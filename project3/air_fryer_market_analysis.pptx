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4" r:id="rId4"/>
    <p:sldId id="266" r:id="rId5"/>
    <p:sldId id="259" r:id="rId6"/>
    <p:sldId id="265" r:id="rId7"/>
    <p:sldId id="261"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Profit index</c:v>
                </c:pt>
              </c:strCache>
            </c:strRef>
          </c:tx>
          <c:spPr>
            <a:solidFill>
              <a:srgbClr val="990011"/>
            </a:solidFill>
            <a:effectLst/>
          </c:spPr>
          <c:invertIfNegative val="0"/>
          <c:dLbls>
            <c:numFmt formatCode="0.00" sourceLinked="0"/>
            <c:spPr>
              <a:noFill/>
              <a:ln>
                <a:noFill/>
              </a:ln>
              <a:effectLst/>
            </c:spPr>
            <c:txPr>
              <a:bodyPr/>
              <a:lstStyle/>
              <a:p>
                <a:pPr>
                  <a:defRPr sz="1100" b="0" i="0" u="none" strike="noStrike">
                    <a:solidFill>
                      <a:srgbClr val="1A1A1A"/>
                    </a:solidFill>
                    <a:latin typeface="Arial"/>
                  </a:defRPr>
                </a:pPr>
                <a:endParaRPr lang="en-T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Oster</c:v>
                </c:pt>
                <c:pt idx="1">
                  <c:v>Nuwave</c:v>
                </c:pt>
                <c:pt idx="2">
                  <c:v>Cosori</c:v>
                </c:pt>
                <c:pt idx="3">
                  <c:v>Cuisinart</c:v>
                </c:pt>
                <c:pt idx="4">
                  <c:v>Ultrean</c:v>
                </c:pt>
                <c:pt idx="5">
                  <c:v>Chefman</c:v>
                </c:pt>
                <c:pt idx="6">
                  <c:v>Dash</c:v>
                </c:pt>
                <c:pt idx="7">
                  <c:v>Gowise Usa</c:v>
                </c:pt>
                <c:pt idx="8">
                  <c:v>Instant pot</c:v>
                </c:pt>
                <c:pt idx="9">
                  <c:v>Ninja</c:v>
                </c:pt>
              </c:strCache>
            </c:strRef>
          </c:cat>
          <c:val>
            <c:numRef>
              <c:f>Sheet1!$B$2:$B$11</c:f>
              <c:numCache>
                <c:formatCode>General</c:formatCode>
                <c:ptCount val="10"/>
                <c:pt idx="0">
                  <c:v>0.68</c:v>
                </c:pt>
                <c:pt idx="1">
                  <c:v>1.42</c:v>
                </c:pt>
                <c:pt idx="2">
                  <c:v>1.44</c:v>
                </c:pt>
                <c:pt idx="3">
                  <c:v>2.5</c:v>
                </c:pt>
                <c:pt idx="4">
                  <c:v>2.78</c:v>
                </c:pt>
                <c:pt idx="5">
                  <c:v>2.82</c:v>
                </c:pt>
                <c:pt idx="6">
                  <c:v>2.99</c:v>
                </c:pt>
                <c:pt idx="7">
                  <c:v>4.6100000000000003</c:v>
                </c:pt>
                <c:pt idx="8">
                  <c:v>6.01</c:v>
                </c:pt>
                <c:pt idx="9">
                  <c:v>6.31</c:v>
                </c:pt>
              </c:numCache>
            </c:numRef>
          </c:val>
          <c:extLst>
            <c:ext xmlns:c16="http://schemas.microsoft.com/office/drawing/2014/chart" uri="{C3380CC4-5D6E-409C-BE32-E72D297353CC}">
              <c16:uniqueId val="{00000000-B9DB-F242-80B0-EDEC360A13B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DD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097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64F3-3FA3-919A-21C7-73ED30FF0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D04C2-0866-C41D-F835-A55023030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AA4C-1342-20A9-FEF4-35574E483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4EC317-FDEA-E502-1E2F-D6E182908DF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98523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84A9D-2082-FDEA-B255-39EAB429C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44FC2-94F2-9D14-485F-21FF90D7E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C8350-1D32-629C-E0F7-B6C0D19ACE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D43CA2-B528-B5A6-1461-E5220120B2D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27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0009"/>
        </a:solidFill>
        <a:effectLst/>
      </p:bgPr>
    </p:bg>
    <p:spTree>
      <p:nvGrpSpPr>
        <p:cNvPr id="1" name=""/>
        <p:cNvGrpSpPr/>
        <p:nvPr/>
      </p:nvGrpSpPr>
      <p:grpSpPr>
        <a:xfrm>
          <a:off x="0" y="0"/>
          <a:ext cx="0" cy="0"/>
          <a:chOff x="0" y="0"/>
          <a:chExt cx="0" cy="0"/>
        </a:xfrm>
      </p:grpSpPr>
      <p:sp>
        <p:nvSpPr>
          <p:cNvPr id="2" name="Text 0"/>
          <p:cNvSpPr/>
          <p:nvPr/>
        </p:nvSpPr>
        <p:spPr>
          <a:xfrm>
            <a:off x="731520" y="1463040"/>
            <a:ext cx="7315200" cy="365760"/>
          </a:xfrm>
          <a:prstGeom prst="rect">
            <a:avLst/>
          </a:prstGeom>
          <a:noFill/>
          <a:ln/>
        </p:spPr>
        <p:txBody>
          <a:bodyPr wrap="square" lIns="0" tIns="0" rIns="0" bIns="0" rtlCol="0" anchor="ctr"/>
          <a:lstStyle/>
          <a:p>
            <a:pPr marL="0" indent="0">
              <a:buNone/>
            </a:pPr>
            <a:r>
              <a:rPr lang="en-US" sz="1300" b="1" kern="0" spc="600" dirty="0">
                <a:solidFill>
                  <a:srgbClr val="F5C9CC"/>
                </a:solidFill>
                <a:latin typeface="Calibri" pitchFamily="34" charset="0"/>
                <a:ea typeface="Calibri" pitchFamily="34" charset="-122"/>
                <a:cs typeface="Calibri" pitchFamily="34" charset="-120"/>
              </a:rPr>
              <a:t>MARKET INTELLIGENCE BRIEF</a:t>
            </a:r>
            <a:endParaRPr lang="en-US" sz="1300" dirty="0"/>
          </a:p>
        </p:txBody>
      </p:sp>
      <p:sp>
        <p:nvSpPr>
          <p:cNvPr id="3" name="Text 1"/>
          <p:cNvSpPr/>
          <p:nvPr/>
        </p:nvSpPr>
        <p:spPr>
          <a:xfrm>
            <a:off x="731520" y="1920240"/>
            <a:ext cx="10058400" cy="100584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The Air Fryer Market</a:t>
            </a:r>
            <a:endParaRPr lang="en-US" sz="6000" dirty="0"/>
          </a:p>
        </p:txBody>
      </p:sp>
      <p:sp>
        <p:nvSpPr>
          <p:cNvPr id="4" name="Text 2"/>
          <p:cNvSpPr/>
          <p:nvPr/>
        </p:nvSpPr>
        <p:spPr>
          <a:xfrm>
            <a:off x="731520" y="3017520"/>
            <a:ext cx="10058400" cy="640080"/>
          </a:xfrm>
          <a:prstGeom prst="rect">
            <a:avLst/>
          </a:prstGeom>
          <a:noFill/>
          <a:ln/>
        </p:spPr>
        <p:txBody>
          <a:bodyPr wrap="square" lIns="0" tIns="0" rIns="0" bIns="0" rtlCol="0" anchor="ctr"/>
          <a:lstStyle/>
          <a:p>
            <a:pPr marL="0" indent="0">
              <a:buNone/>
            </a:pPr>
            <a:r>
              <a:rPr lang="en-US" sz="2200" i="1" dirty="0">
                <a:solidFill>
                  <a:srgbClr val="F5C9CC"/>
                </a:solidFill>
                <a:latin typeface="Georgia" pitchFamily="34" charset="0"/>
                <a:ea typeface="Georgia" pitchFamily="34" charset="-122"/>
                <a:cs typeface="Georgia" pitchFamily="34" charset="-120"/>
              </a:rPr>
              <a:t>Who's winning, who's overpaying, and what customers actually want</a:t>
            </a:r>
            <a:endParaRPr lang="en-US" sz="2200" dirty="0"/>
          </a:p>
        </p:txBody>
      </p:sp>
      <p:sp>
        <p:nvSpPr>
          <p:cNvPr id="5" name="Shape 3"/>
          <p:cNvSpPr/>
          <p:nvPr/>
        </p:nvSpPr>
        <p:spPr>
          <a:xfrm>
            <a:off x="731520" y="3931920"/>
            <a:ext cx="548640" cy="45720"/>
          </a:xfrm>
          <a:prstGeom prst="rect">
            <a:avLst/>
          </a:prstGeom>
          <a:solidFill>
            <a:srgbClr val="FFFFFF"/>
          </a:solidFill>
          <a:ln w="12700">
            <a:solidFill>
              <a:srgbClr val="FFFFFF"/>
            </a:solidFill>
            <a:prstDash val="solid"/>
          </a:ln>
        </p:spPr>
        <p:txBody>
          <a:bodyPr/>
          <a:lstStyle/>
          <a:p>
            <a:endParaRPr lang="en-TH"/>
          </a:p>
        </p:txBody>
      </p:sp>
      <p:sp>
        <p:nvSpPr>
          <p:cNvPr id="6" name="Text 4"/>
          <p:cNvSpPr/>
          <p:nvPr/>
        </p:nvSpPr>
        <p:spPr>
          <a:xfrm>
            <a:off x="731520" y="4114800"/>
            <a:ext cx="9144000" cy="822960"/>
          </a:xfrm>
          <a:prstGeom prst="rect">
            <a:avLst/>
          </a:prstGeom>
          <a:noFill/>
          <a:ln/>
        </p:spPr>
        <p:txBody>
          <a:bodyPr wrap="square" lIns="0" tIns="0" rIns="0" bIns="0" rtlCol="0" anchor="ctr"/>
          <a:lstStyle/>
          <a:p>
            <a:pPr marL="0" indent="0">
              <a:buNone/>
            </a:pPr>
            <a:r>
              <a:rPr lang="en-US" sz="1300" dirty="0">
                <a:solidFill>
                  <a:srgbClr val="F5C9CC"/>
                </a:solidFill>
                <a:latin typeface="Calibri" pitchFamily="34" charset="0"/>
                <a:ea typeface="Calibri" pitchFamily="34" charset="-122"/>
                <a:cs typeface="Calibri" pitchFamily="34" charset="-120"/>
              </a:rPr>
              <a:t>By: Anish Jagota</a:t>
            </a:r>
            <a:endParaRPr lang="en-US" sz="1300" dirty="0"/>
          </a:p>
        </p:txBody>
      </p:sp>
      <p:sp>
        <p:nvSpPr>
          <p:cNvPr id="7" name="Text 5"/>
          <p:cNvSpPr/>
          <p:nvPr/>
        </p:nvSpPr>
        <p:spPr>
          <a:xfrm>
            <a:off x="731520" y="6126480"/>
            <a:ext cx="10058400" cy="274320"/>
          </a:xfrm>
          <a:prstGeom prst="rect">
            <a:avLst/>
          </a:prstGeom>
          <a:noFill/>
          <a:ln/>
        </p:spPr>
        <p:txBody>
          <a:bodyPr wrap="square" lIns="0" tIns="0" rIns="0" bIns="0" rtlCol="0" anchor="ctr"/>
          <a:lstStyle/>
          <a:p>
            <a:pPr marL="0" indent="0" algn="r">
              <a:buNone/>
            </a:pPr>
            <a:r>
              <a:rPr lang="en-US" sz="1000" kern="0" spc="300" dirty="0">
                <a:solidFill>
                  <a:srgbClr val="B88589"/>
                </a:solidFill>
                <a:latin typeface="Calibri" pitchFamily="34" charset="0"/>
                <a:ea typeface="Calibri" pitchFamily="34" charset="-122"/>
                <a:cs typeface="Calibri" pitchFamily="34" charset="-120"/>
              </a:rPr>
              <a:t>DS3001 · Demand Estimation Lab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1A1A1A"/>
                </a:solidFill>
                <a:latin typeface="Georgia" pitchFamily="34" charset="0"/>
                <a:ea typeface="Georgia" pitchFamily="34" charset="-122"/>
                <a:cs typeface="Georgia" pitchFamily="34" charset="-120"/>
              </a:rPr>
              <a:t>The Market at a Glance</a:t>
            </a:r>
            <a:endParaRPr lang="en-US" sz="3200" dirty="0"/>
          </a:p>
        </p:txBody>
      </p:sp>
      <p:sp>
        <p:nvSpPr>
          <p:cNvPr id="3" name="Text 1"/>
          <p:cNvSpPr/>
          <p:nvPr/>
        </p:nvSpPr>
        <p:spPr>
          <a:xfrm>
            <a:off x="548640" y="1097280"/>
            <a:ext cx="109728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A concentrated, dynamic, mid-priced category — but the leaderboard has shifted dramatically since 2019.</a:t>
            </a:r>
            <a:endParaRPr lang="en-US" sz="1400" dirty="0"/>
          </a:p>
        </p:txBody>
      </p:sp>
      <p:sp>
        <p:nvSpPr>
          <p:cNvPr id="4" name="Shape 2"/>
          <p:cNvSpPr/>
          <p:nvPr/>
        </p:nvSpPr>
        <p:spPr>
          <a:xfrm>
            <a:off x="525780" y="1920240"/>
            <a:ext cx="2606040" cy="2194560"/>
          </a:xfrm>
          <a:prstGeom prst="rect">
            <a:avLst/>
          </a:prstGeom>
          <a:solidFill>
            <a:srgbClr val="FFFFFF"/>
          </a:solidFill>
          <a:ln w="9525">
            <a:solidFill>
              <a:srgbClr val="E2DDDC"/>
            </a:solidFill>
            <a:prstDash val="solid"/>
          </a:ln>
          <a:effectLst>
            <a:outerShdw blurRad="101600" dist="25400" dir="5400000" algn="bl" rotWithShape="0">
              <a:srgbClr val="000000">
                <a:alpha val="6000"/>
              </a:srgbClr>
            </a:outerShdw>
          </a:effectLst>
        </p:spPr>
        <p:txBody>
          <a:bodyPr/>
          <a:lstStyle/>
          <a:p>
            <a:endParaRPr lang="en-TH"/>
          </a:p>
        </p:txBody>
      </p:sp>
      <p:sp>
        <p:nvSpPr>
          <p:cNvPr id="5" name="Shape 3"/>
          <p:cNvSpPr/>
          <p:nvPr/>
        </p:nvSpPr>
        <p:spPr>
          <a:xfrm>
            <a:off x="525780" y="1920240"/>
            <a:ext cx="2606040" cy="54864"/>
          </a:xfrm>
          <a:prstGeom prst="rect">
            <a:avLst/>
          </a:prstGeom>
          <a:solidFill>
            <a:srgbClr val="990011"/>
          </a:solidFill>
          <a:ln w="12700">
            <a:solidFill>
              <a:srgbClr val="990011"/>
            </a:solidFill>
            <a:prstDash val="solid"/>
          </a:ln>
        </p:spPr>
        <p:txBody>
          <a:bodyPr/>
          <a:lstStyle/>
          <a:p>
            <a:endParaRPr lang="en-TH"/>
          </a:p>
        </p:txBody>
      </p:sp>
      <p:sp>
        <p:nvSpPr>
          <p:cNvPr id="6" name="Text 4"/>
          <p:cNvSpPr/>
          <p:nvPr/>
        </p:nvSpPr>
        <p:spPr>
          <a:xfrm>
            <a:off x="708660" y="2331720"/>
            <a:ext cx="2240280" cy="914400"/>
          </a:xfrm>
          <a:prstGeom prst="rect">
            <a:avLst/>
          </a:prstGeom>
          <a:noFill/>
          <a:ln/>
        </p:spPr>
        <p:txBody>
          <a:bodyPr wrap="square" lIns="0" tIns="0" rIns="0" bIns="0" rtlCol="0" anchor="ctr"/>
          <a:lstStyle/>
          <a:p>
            <a:pPr marL="0" indent="0" algn="ctr">
              <a:buNone/>
            </a:pPr>
            <a:r>
              <a:rPr lang="en-US" sz="4800" b="1" dirty="0">
                <a:solidFill>
                  <a:srgbClr val="990011"/>
                </a:solidFill>
                <a:latin typeface="Georgia" pitchFamily="34" charset="0"/>
                <a:ea typeface="Georgia" pitchFamily="34" charset="-122"/>
                <a:cs typeface="Georgia" pitchFamily="34" charset="-120"/>
              </a:rPr>
              <a:t>10</a:t>
            </a:r>
            <a:endParaRPr lang="en-US" sz="4800" dirty="0"/>
          </a:p>
        </p:txBody>
      </p:sp>
      <p:sp>
        <p:nvSpPr>
          <p:cNvPr id="7" name="Text 5"/>
          <p:cNvSpPr/>
          <p:nvPr/>
        </p:nvSpPr>
        <p:spPr>
          <a:xfrm>
            <a:off x="708660" y="3246120"/>
            <a:ext cx="224028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name brands</a:t>
            </a:r>
            <a:endParaRPr lang="en-US" sz="1400" dirty="0"/>
          </a:p>
        </p:txBody>
      </p:sp>
      <p:sp>
        <p:nvSpPr>
          <p:cNvPr id="8" name="Text 6"/>
          <p:cNvSpPr/>
          <p:nvPr/>
        </p:nvSpPr>
        <p:spPr>
          <a:xfrm>
            <a:off x="708660" y="3611880"/>
            <a:ext cx="2240280" cy="36576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in cleaned market</a:t>
            </a:r>
            <a:endParaRPr lang="en-US" sz="1100" dirty="0"/>
          </a:p>
        </p:txBody>
      </p:sp>
      <p:sp>
        <p:nvSpPr>
          <p:cNvPr id="9" name="Shape 7"/>
          <p:cNvSpPr/>
          <p:nvPr/>
        </p:nvSpPr>
        <p:spPr>
          <a:xfrm>
            <a:off x="3360420" y="1920240"/>
            <a:ext cx="2606040" cy="2194560"/>
          </a:xfrm>
          <a:prstGeom prst="rect">
            <a:avLst/>
          </a:prstGeom>
          <a:solidFill>
            <a:srgbClr val="FFFFFF"/>
          </a:solidFill>
          <a:ln w="9525">
            <a:solidFill>
              <a:srgbClr val="E2DDDC"/>
            </a:solidFill>
            <a:prstDash val="solid"/>
          </a:ln>
          <a:effectLst>
            <a:outerShdw blurRad="101600" dist="25400" dir="5400000" algn="bl" rotWithShape="0">
              <a:srgbClr val="000000">
                <a:alpha val="6000"/>
              </a:srgbClr>
            </a:outerShdw>
          </a:effectLst>
        </p:spPr>
        <p:txBody>
          <a:bodyPr/>
          <a:lstStyle/>
          <a:p>
            <a:endParaRPr lang="en-TH"/>
          </a:p>
        </p:txBody>
      </p:sp>
      <p:sp>
        <p:nvSpPr>
          <p:cNvPr id="10" name="Shape 8"/>
          <p:cNvSpPr/>
          <p:nvPr/>
        </p:nvSpPr>
        <p:spPr>
          <a:xfrm>
            <a:off x="3360420" y="1920240"/>
            <a:ext cx="2606040" cy="54864"/>
          </a:xfrm>
          <a:prstGeom prst="rect">
            <a:avLst/>
          </a:prstGeom>
          <a:solidFill>
            <a:srgbClr val="990011"/>
          </a:solidFill>
          <a:ln w="12700">
            <a:solidFill>
              <a:srgbClr val="990011"/>
            </a:solidFill>
            <a:prstDash val="solid"/>
          </a:ln>
        </p:spPr>
        <p:txBody>
          <a:bodyPr/>
          <a:lstStyle/>
          <a:p>
            <a:endParaRPr lang="en-TH"/>
          </a:p>
        </p:txBody>
      </p:sp>
      <p:sp>
        <p:nvSpPr>
          <p:cNvPr id="11" name="Text 9"/>
          <p:cNvSpPr/>
          <p:nvPr/>
        </p:nvSpPr>
        <p:spPr>
          <a:xfrm>
            <a:off x="3543300" y="2331720"/>
            <a:ext cx="2240280" cy="914400"/>
          </a:xfrm>
          <a:prstGeom prst="rect">
            <a:avLst/>
          </a:prstGeom>
          <a:noFill/>
          <a:ln/>
        </p:spPr>
        <p:txBody>
          <a:bodyPr wrap="square" lIns="0" tIns="0" rIns="0" bIns="0" rtlCol="0" anchor="ctr"/>
          <a:lstStyle/>
          <a:p>
            <a:pPr marL="0" indent="0" algn="ctr">
              <a:buNone/>
            </a:pPr>
            <a:r>
              <a:rPr lang="en-US" sz="4800" b="1" dirty="0">
                <a:solidFill>
                  <a:srgbClr val="990011"/>
                </a:solidFill>
                <a:latin typeface="Georgia" pitchFamily="34" charset="0"/>
                <a:ea typeface="Georgia" pitchFamily="34" charset="-122"/>
                <a:cs typeface="Georgia" pitchFamily="34" charset="-120"/>
              </a:rPr>
              <a:t>5</a:t>
            </a:r>
            <a:endParaRPr lang="en-US" sz="4800" dirty="0"/>
          </a:p>
        </p:txBody>
      </p:sp>
      <p:sp>
        <p:nvSpPr>
          <p:cNvPr id="12" name="Text 10"/>
          <p:cNvSpPr/>
          <p:nvPr/>
        </p:nvSpPr>
        <p:spPr>
          <a:xfrm>
            <a:off x="3543300" y="3246120"/>
            <a:ext cx="224028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years of data</a:t>
            </a:r>
            <a:endParaRPr lang="en-US" sz="1400" dirty="0"/>
          </a:p>
        </p:txBody>
      </p:sp>
      <p:sp>
        <p:nvSpPr>
          <p:cNvPr id="13" name="Text 11"/>
          <p:cNvSpPr/>
          <p:nvPr/>
        </p:nvSpPr>
        <p:spPr>
          <a:xfrm>
            <a:off x="3543300" y="3611880"/>
            <a:ext cx="2240280" cy="36576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2019 – 2023</a:t>
            </a:r>
            <a:endParaRPr lang="en-US" sz="1100" dirty="0"/>
          </a:p>
        </p:txBody>
      </p:sp>
      <p:sp>
        <p:nvSpPr>
          <p:cNvPr id="14" name="Shape 12"/>
          <p:cNvSpPr/>
          <p:nvPr/>
        </p:nvSpPr>
        <p:spPr>
          <a:xfrm>
            <a:off x="6195060" y="1920240"/>
            <a:ext cx="2606040" cy="2194560"/>
          </a:xfrm>
          <a:prstGeom prst="rect">
            <a:avLst/>
          </a:prstGeom>
          <a:solidFill>
            <a:srgbClr val="FFFFFF"/>
          </a:solidFill>
          <a:ln w="9525">
            <a:solidFill>
              <a:srgbClr val="E2DDDC"/>
            </a:solidFill>
            <a:prstDash val="solid"/>
          </a:ln>
          <a:effectLst>
            <a:outerShdw blurRad="101600" dist="25400" dir="5400000" algn="bl" rotWithShape="0">
              <a:srgbClr val="000000">
                <a:alpha val="6000"/>
              </a:srgbClr>
            </a:outerShdw>
          </a:effectLst>
        </p:spPr>
        <p:txBody>
          <a:bodyPr/>
          <a:lstStyle/>
          <a:p>
            <a:endParaRPr lang="en-TH"/>
          </a:p>
        </p:txBody>
      </p:sp>
      <p:sp>
        <p:nvSpPr>
          <p:cNvPr id="15" name="Shape 13"/>
          <p:cNvSpPr/>
          <p:nvPr/>
        </p:nvSpPr>
        <p:spPr>
          <a:xfrm>
            <a:off x="6195060" y="1920240"/>
            <a:ext cx="2606040" cy="54864"/>
          </a:xfrm>
          <a:prstGeom prst="rect">
            <a:avLst/>
          </a:prstGeom>
          <a:solidFill>
            <a:srgbClr val="990011"/>
          </a:solidFill>
          <a:ln w="12700">
            <a:solidFill>
              <a:srgbClr val="990011"/>
            </a:solidFill>
            <a:prstDash val="solid"/>
          </a:ln>
        </p:spPr>
        <p:txBody>
          <a:bodyPr/>
          <a:lstStyle/>
          <a:p>
            <a:endParaRPr lang="en-TH"/>
          </a:p>
        </p:txBody>
      </p:sp>
      <p:sp>
        <p:nvSpPr>
          <p:cNvPr id="16" name="Text 14"/>
          <p:cNvSpPr/>
          <p:nvPr/>
        </p:nvSpPr>
        <p:spPr>
          <a:xfrm>
            <a:off x="6377940" y="2331720"/>
            <a:ext cx="2240280" cy="914400"/>
          </a:xfrm>
          <a:prstGeom prst="rect">
            <a:avLst/>
          </a:prstGeom>
          <a:noFill/>
          <a:ln/>
        </p:spPr>
        <p:txBody>
          <a:bodyPr wrap="square" lIns="0" tIns="0" rIns="0" bIns="0" rtlCol="0" anchor="ctr"/>
          <a:lstStyle/>
          <a:p>
            <a:pPr marL="0" indent="0" algn="ctr">
              <a:buNone/>
            </a:pPr>
            <a:r>
              <a:rPr lang="en-US" sz="3200" b="1" dirty="0">
                <a:solidFill>
                  <a:srgbClr val="990011"/>
                </a:solidFill>
                <a:latin typeface="Georgia" pitchFamily="34" charset="0"/>
                <a:ea typeface="Georgia" pitchFamily="34" charset="-122"/>
                <a:cs typeface="Georgia" pitchFamily="34" charset="-120"/>
              </a:rPr>
              <a:t>29 → 5%</a:t>
            </a:r>
            <a:endParaRPr lang="en-US" sz="3200" dirty="0"/>
          </a:p>
        </p:txBody>
      </p:sp>
      <p:sp>
        <p:nvSpPr>
          <p:cNvPr id="17" name="Text 15"/>
          <p:cNvSpPr/>
          <p:nvPr/>
        </p:nvSpPr>
        <p:spPr>
          <a:xfrm>
            <a:off x="6377940" y="3246120"/>
            <a:ext cx="224028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GoWise USA share</a:t>
            </a:r>
            <a:endParaRPr lang="en-US" sz="1400" dirty="0"/>
          </a:p>
        </p:txBody>
      </p:sp>
      <p:sp>
        <p:nvSpPr>
          <p:cNvPr id="18" name="Text 16"/>
          <p:cNvSpPr/>
          <p:nvPr/>
        </p:nvSpPr>
        <p:spPr>
          <a:xfrm>
            <a:off x="6377940" y="3611880"/>
            <a:ext cx="2240280" cy="36576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collapsed over the window</a:t>
            </a:r>
            <a:endParaRPr lang="en-US" sz="1100" dirty="0"/>
          </a:p>
        </p:txBody>
      </p:sp>
      <p:sp>
        <p:nvSpPr>
          <p:cNvPr id="19" name="Shape 17"/>
          <p:cNvSpPr/>
          <p:nvPr/>
        </p:nvSpPr>
        <p:spPr>
          <a:xfrm>
            <a:off x="9029700" y="1920240"/>
            <a:ext cx="2606040" cy="2194560"/>
          </a:xfrm>
          <a:prstGeom prst="rect">
            <a:avLst/>
          </a:prstGeom>
          <a:solidFill>
            <a:srgbClr val="FFFFFF"/>
          </a:solidFill>
          <a:ln w="9525">
            <a:solidFill>
              <a:srgbClr val="E2DDDC"/>
            </a:solidFill>
            <a:prstDash val="solid"/>
          </a:ln>
          <a:effectLst>
            <a:outerShdw blurRad="101600" dist="25400" dir="5400000" algn="bl" rotWithShape="0">
              <a:srgbClr val="000000">
                <a:alpha val="6000"/>
              </a:srgbClr>
            </a:outerShdw>
          </a:effectLst>
        </p:spPr>
        <p:txBody>
          <a:bodyPr/>
          <a:lstStyle/>
          <a:p>
            <a:endParaRPr lang="en-TH"/>
          </a:p>
        </p:txBody>
      </p:sp>
      <p:sp>
        <p:nvSpPr>
          <p:cNvPr id="20" name="Shape 18"/>
          <p:cNvSpPr/>
          <p:nvPr/>
        </p:nvSpPr>
        <p:spPr>
          <a:xfrm>
            <a:off x="9029700" y="1920240"/>
            <a:ext cx="2606040" cy="54864"/>
          </a:xfrm>
          <a:prstGeom prst="rect">
            <a:avLst/>
          </a:prstGeom>
          <a:solidFill>
            <a:srgbClr val="990011"/>
          </a:solidFill>
          <a:ln w="12700">
            <a:solidFill>
              <a:srgbClr val="990011"/>
            </a:solidFill>
            <a:prstDash val="solid"/>
          </a:ln>
        </p:spPr>
        <p:txBody>
          <a:bodyPr/>
          <a:lstStyle/>
          <a:p>
            <a:endParaRPr lang="en-TH"/>
          </a:p>
        </p:txBody>
      </p:sp>
      <p:sp>
        <p:nvSpPr>
          <p:cNvPr id="21" name="Text 19"/>
          <p:cNvSpPr/>
          <p:nvPr/>
        </p:nvSpPr>
        <p:spPr>
          <a:xfrm>
            <a:off x="9212580" y="2331720"/>
            <a:ext cx="2240280" cy="914400"/>
          </a:xfrm>
          <a:prstGeom prst="rect">
            <a:avLst/>
          </a:prstGeom>
          <a:noFill/>
          <a:ln/>
        </p:spPr>
        <p:txBody>
          <a:bodyPr wrap="square" lIns="0" tIns="0" rIns="0" bIns="0" rtlCol="0" anchor="ctr"/>
          <a:lstStyle/>
          <a:p>
            <a:pPr marL="0" indent="0" algn="ctr">
              <a:buNone/>
            </a:pPr>
            <a:r>
              <a:rPr lang="en-US" sz="3200" b="1" dirty="0">
                <a:solidFill>
                  <a:srgbClr val="990011"/>
                </a:solidFill>
                <a:latin typeface="Georgia" pitchFamily="34" charset="0"/>
                <a:ea typeface="Georgia" pitchFamily="34" charset="-122"/>
                <a:cs typeface="Georgia" pitchFamily="34" charset="-120"/>
              </a:rPr>
              <a:t>3 → 23%</a:t>
            </a:r>
            <a:endParaRPr lang="en-US" sz="3200" dirty="0"/>
          </a:p>
        </p:txBody>
      </p:sp>
      <p:sp>
        <p:nvSpPr>
          <p:cNvPr id="22" name="Text 20"/>
          <p:cNvSpPr/>
          <p:nvPr/>
        </p:nvSpPr>
        <p:spPr>
          <a:xfrm>
            <a:off x="9212580" y="3246120"/>
            <a:ext cx="224028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Instant Pot share</a:t>
            </a:r>
            <a:endParaRPr lang="en-US" sz="1400" dirty="0"/>
          </a:p>
        </p:txBody>
      </p:sp>
      <p:sp>
        <p:nvSpPr>
          <p:cNvPr id="23" name="Text 21"/>
          <p:cNvSpPr/>
          <p:nvPr/>
        </p:nvSpPr>
        <p:spPr>
          <a:xfrm>
            <a:off x="9212580" y="3611880"/>
            <a:ext cx="2240280" cy="36576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took its place</a:t>
            </a:r>
            <a:endParaRPr lang="en-US" sz="1100" dirty="0"/>
          </a:p>
        </p:txBody>
      </p:sp>
      <p:sp>
        <p:nvSpPr>
          <p:cNvPr id="24" name="Text 22"/>
          <p:cNvSpPr/>
          <p:nvPr/>
        </p:nvSpPr>
        <p:spPr>
          <a:xfrm>
            <a:off x="548640" y="4617720"/>
            <a:ext cx="10972800" cy="365760"/>
          </a:xfrm>
          <a:prstGeom prst="rect">
            <a:avLst/>
          </a:prstGeom>
          <a:noFill/>
          <a:ln/>
        </p:spPr>
        <p:txBody>
          <a:bodyPr wrap="square" lIns="0" tIns="0" rIns="0" bIns="0" rtlCol="0" anchor="ctr"/>
          <a:lstStyle/>
          <a:p>
            <a:pPr marL="0" indent="0">
              <a:buNone/>
            </a:pPr>
            <a:r>
              <a:rPr lang="en-US" sz="1800" b="1" dirty="0">
                <a:solidFill>
                  <a:srgbClr val="2F3C7E"/>
                </a:solidFill>
                <a:latin typeface="Georgia" pitchFamily="34" charset="0"/>
                <a:ea typeface="Georgia" pitchFamily="34" charset="-122"/>
                <a:cs typeface="Georgia" pitchFamily="34" charset="-120"/>
              </a:rPr>
              <a:t>The takeaway</a:t>
            </a:r>
            <a:endParaRPr lang="en-US" sz="1800" dirty="0"/>
          </a:p>
        </p:txBody>
      </p:sp>
      <p:sp>
        <p:nvSpPr>
          <p:cNvPr id="25" name="Text 23"/>
          <p:cNvSpPr/>
          <p:nvPr/>
        </p:nvSpPr>
        <p:spPr>
          <a:xfrm>
            <a:off x="548640" y="5029200"/>
            <a:ext cx="10972800" cy="1280160"/>
          </a:xfrm>
          <a:prstGeom prst="rect">
            <a:avLst/>
          </a:prstGeom>
          <a:noFill/>
          <a:ln/>
        </p:spPr>
        <p:txBody>
          <a:bodyPr wrap="square" lIns="0" tIns="0" rIns="0" bIns="0" rtlCol="0" anchor="ctr"/>
          <a:lstStyle/>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The cleaned air-fryer market is a concentrated, mid-priced category dominated by a handful of recognizable kitchen brands. Average prices have been remarkably stable across the five-year window, and consumer ratings sit in a tight 4.4–4.75 range with very little year-to-year movement. What has changed dramatically is who actually wins customers. GoWise USA, the share leader in 2019 with roughly 29%, has lost more than four-fifths of its share. Instant Pot and Cosori effectively didn't exist in this category in 2019; together they now hold over a third of it. The lesson for any incumbent or new entrant: in air fryers, share is fluid, prices and ratings are sticky, and brand position is decided by something other than the headline numbers.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6F5"/>
        </a:solidFill>
        <a:effectLst/>
      </p:bgPr>
    </p:bg>
    <p:spTree>
      <p:nvGrpSpPr>
        <p:cNvPr id="1" name="">
          <a:extLst>
            <a:ext uri="{FF2B5EF4-FFF2-40B4-BE49-F238E27FC236}">
              <a16:creationId xmlns:a16="http://schemas.microsoft.com/office/drawing/2014/main" id="{8AE227C4-1971-EFA3-FB54-9F5110F2BE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59DDEF-9ABF-37E0-5E72-C6FFDD6FC4A1}"/>
              </a:ext>
            </a:extLst>
          </p:cNvPr>
          <p:cNvSpPr/>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1A1A1A"/>
                </a:solidFill>
                <a:latin typeface="Georgia" pitchFamily="34" charset="0"/>
                <a:ea typeface="Georgia" pitchFamily="34" charset="-122"/>
                <a:cs typeface="Georgia" pitchFamily="34" charset="-120"/>
              </a:rPr>
              <a:t>Five Years of Price, Rating, and Share</a:t>
            </a:r>
            <a:endParaRPr lang="en-US" sz="3200" dirty="0"/>
          </a:p>
        </p:txBody>
      </p:sp>
      <p:sp>
        <p:nvSpPr>
          <p:cNvPr id="3" name="Text 1">
            <a:extLst>
              <a:ext uri="{FF2B5EF4-FFF2-40B4-BE49-F238E27FC236}">
                <a16:creationId xmlns:a16="http://schemas.microsoft.com/office/drawing/2014/main" id="{C056D446-6421-750B-3C9C-6097FAD07FF6}"/>
              </a:ext>
            </a:extLst>
          </p:cNvPr>
          <p:cNvSpPr/>
          <p:nvPr/>
        </p:nvSpPr>
        <p:spPr>
          <a:xfrm>
            <a:off x="548640" y="1097280"/>
            <a:ext cx="109728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Prices and ratings are flat. Share is where the action is.</a:t>
            </a:r>
            <a:endParaRPr lang="en-US" sz="1400" dirty="0"/>
          </a:p>
        </p:txBody>
      </p:sp>
      <p:sp>
        <p:nvSpPr>
          <p:cNvPr id="4" name="Text 2">
            <a:extLst>
              <a:ext uri="{FF2B5EF4-FFF2-40B4-BE49-F238E27FC236}">
                <a16:creationId xmlns:a16="http://schemas.microsoft.com/office/drawing/2014/main" id="{591D5DF8-7E78-6756-C657-B23722550502}"/>
              </a:ext>
            </a:extLst>
          </p:cNvPr>
          <p:cNvSpPr/>
          <p:nvPr/>
        </p:nvSpPr>
        <p:spPr>
          <a:xfrm>
            <a:off x="365760" y="1417320"/>
            <a:ext cx="3657600" cy="32004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Average price ($)</a:t>
            </a:r>
            <a:endParaRPr lang="en-US" sz="1300" dirty="0"/>
          </a:p>
        </p:txBody>
      </p:sp>
      <p:sp>
        <p:nvSpPr>
          <p:cNvPr id="5" name="Text 3">
            <a:extLst>
              <a:ext uri="{FF2B5EF4-FFF2-40B4-BE49-F238E27FC236}">
                <a16:creationId xmlns:a16="http://schemas.microsoft.com/office/drawing/2014/main" id="{59DF7B9A-6AFF-BEFE-EDBF-18B6B3002E03}"/>
              </a:ext>
            </a:extLst>
          </p:cNvPr>
          <p:cNvSpPr/>
          <p:nvPr/>
        </p:nvSpPr>
        <p:spPr>
          <a:xfrm>
            <a:off x="4251960" y="1417320"/>
            <a:ext cx="3657600" cy="32004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Average rating</a:t>
            </a:r>
            <a:endParaRPr lang="en-US" sz="1300" dirty="0"/>
          </a:p>
        </p:txBody>
      </p:sp>
      <p:sp>
        <p:nvSpPr>
          <p:cNvPr id="6" name="Text 4">
            <a:extLst>
              <a:ext uri="{FF2B5EF4-FFF2-40B4-BE49-F238E27FC236}">
                <a16:creationId xmlns:a16="http://schemas.microsoft.com/office/drawing/2014/main" id="{E96414E9-C7C0-8EAC-DE4F-168A10B62F88}"/>
              </a:ext>
            </a:extLst>
          </p:cNvPr>
          <p:cNvSpPr/>
          <p:nvPr/>
        </p:nvSpPr>
        <p:spPr>
          <a:xfrm>
            <a:off x="8138160" y="1417320"/>
            <a:ext cx="3657600" cy="32004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Brand share</a:t>
            </a:r>
            <a:endParaRPr lang="en-US" sz="1300" dirty="0"/>
          </a:p>
        </p:txBody>
      </p:sp>
      <p:sp>
        <p:nvSpPr>
          <p:cNvPr id="10" name="Text 5">
            <a:extLst>
              <a:ext uri="{FF2B5EF4-FFF2-40B4-BE49-F238E27FC236}">
                <a16:creationId xmlns:a16="http://schemas.microsoft.com/office/drawing/2014/main" id="{40303DF0-2213-ED87-EF74-668A923E7CDD}"/>
              </a:ext>
            </a:extLst>
          </p:cNvPr>
          <p:cNvSpPr/>
          <p:nvPr/>
        </p:nvSpPr>
        <p:spPr>
          <a:xfrm>
            <a:off x="548640" y="5440680"/>
            <a:ext cx="10972800" cy="274320"/>
          </a:xfrm>
          <a:prstGeom prst="rect">
            <a:avLst/>
          </a:prstGeom>
          <a:noFill/>
          <a:ln/>
        </p:spPr>
        <p:txBody>
          <a:bodyPr wrap="square" lIns="0" tIns="0" rIns="0" bIns="0" rtlCol="0" anchor="ctr"/>
          <a:lstStyle/>
          <a:p>
            <a:pPr marL="0" indent="0">
              <a:buNone/>
            </a:pPr>
            <a:r>
              <a:rPr lang="en-US" sz="1200" b="1" dirty="0">
                <a:solidFill>
                  <a:srgbClr val="2F3C7E"/>
                </a:solidFill>
                <a:latin typeface="Calibri" pitchFamily="34" charset="0"/>
                <a:ea typeface="Calibri" pitchFamily="34" charset="-122"/>
                <a:cs typeface="Calibri" pitchFamily="34" charset="-120"/>
              </a:rPr>
              <a:t>Reading across the three panels:</a:t>
            </a:r>
            <a:endParaRPr lang="en-US" sz="1200" dirty="0"/>
          </a:p>
        </p:txBody>
      </p:sp>
      <p:sp>
        <p:nvSpPr>
          <p:cNvPr id="11" name="Text 6">
            <a:extLst>
              <a:ext uri="{FF2B5EF4-FFF2-40B4-BE49-F238E27FC236}">
                <a16:creationId xmlns:a16="http://schemas.microsoft.com/office/drawing/2014/main" id="{D515F41B-B67E-C3A9-70BA-9006D08FE6A0}"/>
              </a:ext>
            </a:extLst>
          </p:cNvPr>
          <p:cNvSpPr/>
          <p:nvPr/>
        </p:nvSpPr>
        <p:spPr>
          <a:xfrm>
            <a:off x="548640" y="5715000"/>
            <a:ext cx="10972800" cy="68580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Cuisinart and Oster anchor the premium tier (~$190–230) and barely move; Dash, Ultrean, and Chefman hold the value end (~$55–95). Every brand's average rating lives in the narrow 4.35–4.75 band, with Ninja consistently on top and Cuisinart and Oster trailing — a sign that high price does not buy customer satisfaction in this market. The right-hand panel is where the action is: GoWise USA collapses from 29% to 5%, while Instant Pot, Ninja, Cosori, and Chefman all gain share. Prices and ratings are flat, but the leaderboard has been rewritten — meaning the share shifts are being driven by something the headline numbers don't capture (likely product-line refreshes, marketing, distribution, or the value of the brand name itself).</a:t>
            </a:r>
            <a:endParaRPr lang="en-US" sz="1100" dirty="0"/>
          </a:p>
        </p:txBody>
      </p:sp>
      <p:pic>
        <p:nvPicPr>
          <p:cNvPr id="16" name="Picture 15">
            <a:extLst>
              <a:ext uri="{FF2B5EF4-FFF2-40B4-BE49-F238E27FC236}">
                <a16:creationId xmlns:a16="http://schemas.microsoft.com/office/drawing/2014/main" id="{E926D6DA-8D61-7BA0-08EE-2D1A94D465A1}"/>
              </a:ext>
            </a:extLst>
          </p:cNvPr>
          <p:cNvPicPr>
            <a:picLocks noChangeAspect="1"/>
          </p:cNvPicPr>
          <p:nvPr/>
        </p:nvPicPr>
        <p:blipFill>
          <a:blip r:embed="rId3"/>
          <a:stretch>
            <a:fillRect/>
          </a:stretch>
        </p:blipFill>
        <p:spPr>
          <a:xfrm>
            <a:off x="705770" y="2057400"/>
            <a:ext cx="10780459" cy="2971800"/>
          </a:xfrm>
          <a:prstGeom prst="rect">
            <a:avLst/>
          </a:prstGeom>
        </p:spPr>
      </p:pic>
    </p:spTree>
    <p:extLst>
      <p:ext uri="{BB962C8B-B14F-4D97-AF65-F5344CB8AC3E}">
        <p14:creationId xmlns:p14="http://schemas.microsoft.com/office/powerpoint/2010/main" val="1080520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6F5"/>
        </a:solidFill>
        <a:effectLst/>
      </p:bgPr>
    </p:bg>
    <p:spTree>
      <p:nvGrpSpPr>
        <p:cNvPr id="1" name="">
          <a:extLst>
            <a:ext uri="{FF2B5EF4-FFF2-40B4-BE49-F238E27FC236}">
              <a16:creationId xmlns:a16="http://schemas.microsoft.com/office/drawing/2014/main" id="{1CF37A14-CD83-FCEF-3E8E-C53A4C7601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43585-6654-35B6-EFE8-2D514BE01ADD}"/>
              </a:ext>
            </a:extLst>
          </p:cNvPr>
          <p:cNvSpPr/>
          <p:nvPr/>
        </p:nvSpPr>
        <p:spPr>
          <a:xfrm>
            <a:off x="548640" y="457200"/>
            <a:ext cx="10972800" cy="640080"/>
          </a:xfrm>
          <a:prstGeom prst="rect">
            <a:avLst/>
          </a:prstGeom>
          <a:noFill/>
          <a:ln/>
        </p:spPr>
        <p:txBody>
          <a:bodyPr wrap="square" lIns="0" tIns="0" rIns="0" bIns="0" rtlCol="0" anchor="ctr"/>
          <a:lstStyle/>
          <a:p>
            <a:r>
              <a:rPr lang="en-US" sz="3200" b="1" dirty="0">
                <a:solidFill>
                  <a:srgbClr val="1A1A1A"/>
                </a:solidFill>
                <a:latin typeface="Georgia" pitchFamily="34" charset="0"/>
                <a:ea typeface="Georgia" pitchFamily="34" charset="-122"/>
                <a:cs typeface="Georgia" pitchFamily="34" charset="-120"/>
              </a:rPr>
              <a:t>Brands Specialize on Different Form Factors</a:t>
            </a:r>
            <a:endParaRPr lang="en-US" sz="3200" dirty="0"/>
          </a:p>
        </p:txBody>
      </p:sp>
      <p:sp>
        <p:nvSpPr>
          <p:cNvPr id="3" name="Text 1">
            <a:extLst>
              <a:ext uri="{FF2B5EF4-FFF2-40B4-BE49-F238E27FC236}">
                <a16:creationId xmlns:a16="http://schemas.microsoft.com/office/drawing/2014/main" id="{1571746E-04FC-E0B4-33A0-5ABA47A25342}"/>
              </a:ext>
            </a:extLst>
          </p:cNvPr>
          <p:cNvSpPr/>
          <p:nvPr/>
        </p:nvSpPr>
        <p:spPr>
          <a:xfrm>
            <a:off x="548640" y="1097280"/>
            <a:ext cx="10972800" cy="457200"/>
          </a:xfrm>
          <a:prstGeom prst="rect">
            <a:avLst/>
          </a:prstGeom>
          <a:noFill/>
          <a:ln/>
        </p:spPr>
        <p:txBody>
          <a:bodyPr wrap="square" lIns="0" tIns="0" rIns="0" bIns="0" rtlCol="0" anchor="ctr"/>
          <a:lstStyle/>
          <a:p>
            <a:r>
              <a:rPr lang="en-US" sz="1400" i="1" dirty="0">
                <a:solidFill>
                  <a:srgbClr val="6B6B6B"/>
                </a:solidFill>
                <a:latin typeface="Calibri" pitchFamily="34" charset="0"/>
                <a:ea typeface="Calibri" pitchFamily="34" charset="-122"/>
                <a:cs typeface="Calibri" pitchFamily="34" charset="-120"/>
              </a:rPr>
              <a:t>Average product-characteristic shares by brand. Darker = more of that feature.</a:t>
            </a:r>
            <a:endParaRPr lang="en-US" sz="1400" dirty="0"/>
          </a:p>
        </p:txBody>
      </p:sp>
      <p:sp>
        <p:nvSpPr>
          <p:cNvPr id="10" name="Text 5">
            <a:extLst>
              <a:ext uri="{FF2B5EF4-FFF2-40B4-BE49-F238E27FC236}">
                <a16:creationId xmlns:a16="http://schemas.microsoft.com/office/drawing/2014/main" id="{D26FCBB3-D2F0-8F2F-C888-F7CA84A654B3}"/>
              </a:ext>
            </a:extLst>
          </p:cNvPr>
          <p:cNvSpPr/>
          <p:nvPr/>
        </p:nvSpPr>
        <p:spPr>
          <a:xfrm>
            <a:off x="548640" y="5440680"/>
            <a:ext cx="10972800" cy="274320"/>
          </a:xfrm>
          <a:prstGeom prst="rect">
            <a:avLst/>
          </a:prstGeom>
          <a:noFill/>
          <a:ln/>
        </p:spPr>
        <p:txBody>
          <a:bodyPr wrap="square" lIns="0" tIns="0" rIns="0" bIns="0" rtlCol="0" anchor="ctr"/>
          <a:lstStyle/>
          <a:p>
            <a:pPr marL="0" indent="0">
              <a:buNone/>
            </a:pPr>
            <a:r>
              <a:rPr lang="en-US" sz="1200" b="1" dirty="0">
                <a:solidFill>
                  <a:srgbClr val="2F3C7E"/>
                </a:solidFill>
                <a:latin typeface="Calibri" pitchFamily="34" charset="0"/>
                <a:ea typeface="Calibri" pitchFamily="34" charset="-122"/>
                <a:cs typeface="Calibri" pitchFamily="34" charset="-120"/>
              </a:rPr>
              <a:t>What this shows</a:t>
            </a:r>
            <a:endParaRPr lang="en-US" sz="1200" dirty="0"/>
          </a:p>
        </p:txBody>
      </p:sp>
      <p:sp>
        <p:nvSpPr>
          <p:cNvPr id="11" name="Text 6">
            <a:extLst>
              <a:ext uri="{FF2B5EF4-FFF2-40B4-BE49-F238E27FC236}">
                <a16:creationId xmlns:a16="http://schemas.microsoft.com/office/drawing/2014/main" id="{8D94844F-C18E-E92D-55D8-256A9182668F}"/>
              </a:ext>
            </a:extLst>
          </p:cNvPr>
          <p:cNvSpPr/>
          <p:nvPr/>
        </p:nvSpPr>
        <p:spPr>
          <a:xfrm>
            <a:off x="548640" y="5715000"/>
            <a:ext cx="10972800" cy="685800"/>
          </a:xfrm>
          <a:prstGeom prst="rect">
            <a:avLst/>
          </a:prstGeom>
          <a:noFill/>
          <a:ln/>
        </p:spPr>
        <p:txBody>
          <a:bodyPr wrap="square" lIns="0" tIns="0" rIns="0" bIns="0" rtlCol="0" anchor="ctr"/>
          <a:lstStyle/>
          <a:p>
            <a:r>
              <a:rPr lang="en-US" sz="1100" dirty="0"/>
              <a:t>Compact shares is essentially saturated across the cleaned market — every brand carries products that are &gt;85% compact. Specialization shows up in the rare features. </a:t>
            </a:r>
            <a:r>
              <a:rPr lang="en-US" sz="1100" dirty="0" err="1"/>
              <a:t>Chefman</a:t>
            </a:r>
            <a:r>
              <a:rPr lang="en-US" sz="1100" dirty="0"/>
              <a:t> is the clearest outlier: it is essentially the only brand carrying real window and rotisserie share. </a:t>
            </a:r>
            <a:r>
              <a:rPr lang="en-US" sz="1100" dirty="0" err="1"/>
              <a:t>GoWise</a:t>
            </a:r>
            <a:r>
              <a:rPr lang="en-US" sz="1100" dirty="0"/>
              <a:t> USA and Instant Pot also lean into rotisserie. Cuisinart, Dash, Oster, and </a:t>
            </a:r>
            <a:r>
              <a:rPr lang="en-US" sz="1100" dirty="0" err="1"/>
              <a:t>Ultrean</a:t>
            </a:r>
            <a:r>
              <a:rPr lang="en-US" sz="1100" dirty="0"/>
              <a:t> position as simple oven-style brands with no rotisserie or window features at all. Cosori and Ninja take the opposite position, carrying compact basket-style fryers with low oven-style share. Dual-basket products are essentially absent from the entire market — a notable gap given how popular dual-basket has become in the broader category.</a:t>
            </a:r>
          </a:p>
        </p:txBody>
      </p:sp>
      <p:pic>
        <p:nvPicPr>
          <p:cNvPr id="8" name="Picture 7">
            <a:extLst>
              <a:ext uri="{FF2B5EF4-FFF2-40B4-BE49-F238E27FC236}">
                <a16:creationId xmlns:a16="http://schemas.microsoft.com/office/drawing/2014/main" id="{624E81D5-C22A-26C6-C291-757C7EF36867}"/>
              </a:ext>
            </a:extLst>
          </p:cNvPr>
          <p:cNvPicPr>
            <a:picLocks noChangeAspect="1"/>
          </p:cNvPicPr>
          <p:nvPr/>
        </p:nvPicPr>
        <p:blipFill>
          <a:blip r:embed="rId3"/>
          <a:stretch>
            <a:fillRect/>
          </a:stretch>
        </p:blipFill>
        <p:spPr>
          <a:xfrm>
            <a:off x="2700115" y="1529137"/>
            <a:ext cx="6240098" cy="3936886"/>
          </a:xfrm>
          <a:prstGeom prst="rect">
            <a:avLst/>
          </a:prstGeom>
        </p:spPr>
      </p:pic>
    </p:spTree>
    <p:extLst>
      <p:ext uri="{BB962C8B-B14F-4D97-AF65-F5344CB8AC3E}">
        <p14:creationId xmlns:p14="http://schemas.microsoft.com/office/powerpoint/2010/main" val="677601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1A1A1A"/>
                </a:solidFill>
                <a:latin typeface="Georgia" pitchFamily="34" charset="0"/>
                <a:ea typeface="Georgia" pitchFamily="34" charset="-122"/>
                <a:cs typeface="Georgia" pitchFamily="34" charset="-120"/>
              </a:rPr>
              <a:t>How We Modeled Demand</a:t>
            </a:r>
            <a:endParaRPr lang="en-US" sz="3200" dirty="0"/>
          </a:p>
        </p:txBody>
      </p:sp>
      <p:sp>
        <p:nvSpPr>
          <p:cNvPr id="3" name="Text 1"/>
          <p:cNvSpPr/>
          <p:nvPr/>
        </p:nvSpPr>
        <p:spPr>
          <a:xfrm>
            <a:off x="548640" y="1097280"/>
            <a:ext cx="109728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A multinomial logit demand model, estimated by linear regression on log market share.</a:t>
            </a:r>
            <a:endParaRPr lang="en-US" sz="1400" dirty="0"/>
          </a:p>
        </p:txBody>
      </p:sp>
      <p:sp>
        <p:nvSpPr>
          <p:cNvPr id="4" name="Text 2"/>
          <p:cNvSpPr/>
          <p:nvPr/>
        </p:nvSpPr>
        <p:spPr>
          <a:xfrm>
            <a:off x="548640" y="1828800"/>
            <a:ext cx="6400800" cy="365760"/>
          </a:xfrm>
          <a:prstGeom prst="rect">
            <a:avLst/>
          </a:prstGeom>
          <a:noFill/>
          <a:ln/>
        </p:spPr>
        <p:txBody>
          <a:bodyPr wrap="square" lIns="0" tIns="0" rIns="0" bIns="0" rtlCol="0" anchor="ctr"/>
          <a:lstStyle/>
          <a:p>
            <a:pPr marL="0" indent="0">
              <a:buNone/>
            </a:pPr>
            <a:r>
              <a:rPr lang="en-US" sz="1800" b="1" dirty="0">
                <a:solidFill>
                  <a:srgbClr val="2F3C7E"/>
                </a:solidFill>
                <a:latin typeface="Georgia" pitchFamily="34" charset="0"/>
                <a:ea typeface="Georgia" pitchFamily="34" charset="-122"/>
                <a:cs typeface="Georgia" pitchFamily="34" charset="-120"/>
              </a:rPr>
              <a:t>What the model does</a:t>
            </a:r>
            <a:endParaRPr lang="en-US" sz="1800" dirty="0"/>
          </a:p>
        </p:txBody>
      </p:sp>
      <p:sp>
        <p:nvSpPr>
          <p:cNvPr id="5" name="Text 3"/>
          <p:cNvSpPr/>
          <p:nvPr/>
        </p:nvSpPr>
        <p:spPr>
          <a:xfrm>
            <a:off x="548640" y="2240280"/>
            <a:ext cx="6400800" cy="3108960"/>
          </a:xfrm>
          <a:prstGeom prst="rect">
            <a:avLst/>
          </a:prstGeom>
          <a:noFill/>
          <a:ln/>
        </p:spPr>
        <p:txBody>
          <a:bodyPr wrap="square" lIns="0" tIns="0" rIns="0" bIns="0" rtlCol="0" anchor="ctr"/>
          <a:lstStyle/>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We regress log brand share on price, average rating, and five product-feature shares, with separate brand and year fixed effects. This is the linear-regression analog of a multinomial logit demand model — the year dummies absorb the multinomial-logit denominator, and the brand dummies capture every time-invariant brand attribute we can't measure directly (perceived quality, design language, marketing, distribution).</a:t>
            </a:r>
            <a:endParaRPr lang="en-US" sz="1300" dirty="0"/>
          </a:p>
          <a:p>
            <a:pPr marL="0" indent="0">
              <a:spcAft>
                <a:spcPts val="400"/>
              </a:spcAft>
              <a:buNone/>
            </a:pPr>
            <a:r>
              <a:rPr lang="en-US" sz="600" dirty="0">
                <a:solidFill>
                  <a:srgbClr val="000000"/>
                </a:solidFill>
              </a:rPr>
              <a:t> </a:t>
            </a:r>
            <a:endParaRPr lang="en-US" sz="1300" dirty="0"/>
          </a:p>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We deliberately impose a single price slope across all brands and all years. That is a real modeling restriction — but it's the restriction that makes the next stage of the analysis possible. With one price slope, the firm's first-order pricing condition under multinomial-logit demand inverts cleanly into an estimate of unit cost for every brand-year. Allowing brand-specific slopes would split the data 10 ways and leave us unable to compare costs.</a:t>
            </a:r>
            <a:endParaRPr lang="en-US" sz="1300" dirty="0"/>
          </a:p>
          <a:p>
            <a:pPr marL="0" indent="0">
              <a:spcAft>
                <a:spcPts val="400"/>
              </a:spcAft>
              <a:buNone/>
            </a:pPr>
            <a:r>
              <a:rPr lang="en-US" sz="600" dirty="0">
                <a:solidFill>
                  <a:srgbClr val="000000"/>
                </a:solidFill>
              </a:rPr>
              <a:t> </a:t>
            </a:r>
            <a:endParaRPr lang="en-US" sz="1300" dirty="0"/>
          </a:p>
          <a:p>
            <a:pPr marL="0" indent="0">
              <a:spcAft>
                <a:spcPts val="400"/>
              </a:spcAft>
              <a:buNone/>
            </a:pPr>
            <a:r>
              <a:rPr lang="en-US" sz="1300" i="1" dirty="0">
                <a:solidFill>
                  <a:srgbClr val="6B6B6B"/>
                </a:solidFill>
                <a:latin typeface="Calibri" pitchFamily="34" charset="0"/>
                <a:ea typeface="Calibri" pitchFamily="34" charset="-122"/>
                <a:cs typeface="Calibri" pitchFamily="34" charset="-120"/>
              </a:rPr>
              <a:t>What this won't tell us: causal effects of changing any single variable. Brand fixed effects mean we are reading variation across brand-years, not running an experiment. Treat the coefficients as descriptive correlations conditional on the controls.</a:t>
            </a:r>
            <a:endParaRPr lang="en-US" sz="1300" dirty="0"/>
          </a:p>
        </p:txBody>
      </p:sp>
      <p:sp>
        <p:nvSpPr>
          <p:cNvPr id="6" name="Text 4"/>
          <p:cNvSpPr/>
          <p:nvPr/>
        </p:nvSpPr>
        <p:spPr>
          <a:xfrm>
            <a:off x="548640" y="5532120"/>
            <a:ext cx="6400800" cy="457200"/>
          </a:xfrm>
          <a:prstGeom prst="rect">
            <a:avLst/>
          </a:prstGeom>
          <a:noFill/>
          <a:ln/>
        </p:spPr>
        <p:txBody>
          <a:bodyPr wrap="square" lIns="0" tIns="0" rIns="0" bIns="0"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Model fit:  </a:t>
            </a:r>
            <a:r>
              <a:rPr lang="en-US" sz="1600" b="1" dirty="0">
                <a:solidFill>
                  <a:srgbClr val="2F3C7E"/>
                </a:solidFill>
                <a:latin typeface="Georgia" pitchFamily="34" charset="0"/>
                <a:ea typeface="Georgia" pitchFamily="34" charset="-122"/>
                <a:cs typeface="Georgia" pitchFamily="34" charset="-120"/>
              </a:rPr>
              <a:t>R² = 0.76  </a:t>
            </a:r>
            <a:r>
              <a:rPr lang="en-US" sz="1300" i="1" dirty="0">
                <a:solidFill>
                  <a:srgbClr val="6B6B6B"/>
                </a:solidFill>
                <a:latin typeface="Calibri" pitchFamily="34" charset="0"/>
                <a:ea typeface="Calibri" pitchFamily="34" charset="-122"/>
                <a:cs typeface="Calibri" pitchFamily="34" charset="-120"/>
              </a:rPr>
              <a:t>across 50 brand-year cells — a reasonable fit for this specification.</a:t>
            </a:r>
            <a:endParaRPr lang="en-US" sz="1300" dirty="0"/>
          </a:p>
        </p:txBody>
      </p:sp>
      <p:sp>
        <p:nvSpPr>
          <p:cNvPr id="7" name="Shape 5"/>
          <p:cNvSpPr/>
          <p:nvPr/>
        </p:nvSpPr>
        <p:spPr>
          <a:xfrm>
            <a:off x="7315200" y="1828800"/>
            <a:ext cx="4297680" cy="3657600"/>
          </a:xfrm>
          <a:prstGeom prst="rect">
            <a:avLst/>
          </a:prstGeom>
          <a:solidFill>
            <a:srgbClr val="5A0009"/>
          </a:solidFill>
          <a:ln w="12700">
            <a:solidFill>
              <a:srgbClr val="5A0009"/>
            </a:solidFill>
            <a:prstDash val="solid"/>
          </a:ln>
        </p:spPr>
        <p:txBody>
          <a:bodyPr/>
          <a:lstStyle/>
          <a:p>
            <a:endParaRPr lang="en-TH"/>
          </a:p>
        </p:txBody>
      </p:sp>
      <p:sp>
        <p:nvSpPr>
          <p:cNvPr id="8" name="Text 6"/>
          <p:cNvSpPr/>
          <p:nvPr/>
        </p:nvSpPr>
        <p:spPr>
          <a:xfrm>
            <a:off x="7589520" y="2240280"/>
            <a:ext cx="3749040" cy="365760"/>
          </a:xfrm>
          <a:prstGeom prst="rect">
            <a:avLst/>
          </a:prstGeom>
          <a:noFill/>
          <a:ln/>
        </p:spPr>
        <p:txBody>
          <a:bodyPr wrap="square" lIns="0" tIns="0" rIns="0" bIns="0" rtlCol="0" anchor="ctr"/>
          <a:lstStyle/>
          <a:p>
            <a:pPr marL="0" indent="0" algn="ctr">
              <a:buNone/>
            </a:pPr>
            <a:r>
              <a:rPr lang="en-US" sz="1200" b="1" kern="0" spc="500" dirty="0">
                <a:solidFill>
                  <a:srgbClr val="F5C9CC"/>
                </a:solidFill>
                <a:latin typeface="Calibri" pitchFamily="34" charset="0"/>
                <a:ea typeface="Calibri" pitchFamily="34" charset="-122"/>
                <a:cs typeface="Calibri" pitchFamily="34" charset="-120"/>
              </a:rPr>
              <a:t>PRICE COEFFICIENT</a:t>
            </a:r>
            <a:endParaRPr lang="en-US" sz="1200" dirty="0"/>
          </a:p>
        </p:txBody>
      </p:sp>
      <p:sp>
        <p:nvSpPr>
          <p:cNvPr id="9" name="Text 7"/>
          <p:cNvSpPr/>
          <p:nvPr/>
        </p:nvSpPr>
        <p:spPr>
          <a:xfrm>
            <a:off x="7589520" y="2743200"/>
            <a:ext cx="3749040" cy="128016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−0.038</a:t>
            </a:r>
            <a:endParaRPr lang="en-US" sz="5600" dirty="0"/>
          </a:p>
        </p:txBody>
      </p:sp>
      <p:sp>
        <p:nvSpPr>
          <p:cNvPr id="10" name="Text 8"/>
          <p:cNvSpPr/>
          <p:nvPr/>
        </p:nvSpPr>
        <p:spPr>
          <a:xfrm>
            <a:off x="7589520" y="4160520"/>
            <a:ext cx="3749040" cy="41148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Negative — exactly what theory predicts.</a:t>
            </a:r>
            <a:endParaRPr lang="en-US" sz="1400" dirty="0"/>
          </a:p>
        </p:txBody>
      </p:sp>
      <p:sp>
        <p:nvSpPr>
          <p:cNvPr id="11" name="Text 9"/>
          <p:cNvSpPr/>
          <p:nvPr/>
        </p:nvSpPr>
        <p:spPr>
          <a:xfrm>
            <a:off x="7589520" y="4663440"/>
            <a:ext cx="3749040" cy="731520"/>
          </a:xfrm>
          <a:prstGeom prst="rect">
            <a:avLst/>
          </a:prstGeom>
          <a:noFill/>
          <a:ln/>
        </p:spPr>
        <p:txBody>
          <a:bodyPr wrap="square" lIns="0" tIns="0" rIns="0" bIns="0" rtlCol="0" anchor="t"/>
          <a:lstStyle/>
          <a:p>
            <a:pPr marL="0" indent="0" algn="ctr">
              <a:buNone/>
            </a:pPr>
            <a:r>
              <a:rPr lang="en-US" sz="1200" dirty="0">
                <a:solidFill>
                  <a:srgbClr val="F5C9CC"/>
                </a:solidFill>
                <a:latin typeface="Calibri" pitchFamily="34" charset="0"/>
                <a:ea typeface="Calibri" pitchFamily="34" charset="-122"/>
                <a:cs typeface="Calibri" pitchFamily="34" charset="-120"/>
              </a:rPr>
              <a:t>Higher price ⇒ smaller demand/ share, all else equal. The sign also lets the cost-inversion in the next slides work cleanly.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6F5"/>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0972800" cy="640080"/>
          </a:xfrm>
          <a:prstGeom prst="rect">
            <a:avLst/>
          </a:prstGeom>
          <a:noFill/>
        </p:spPr>
        <p:txBody>
          <a:bodyPr wrap="square" lIns="0" tIns="0" rIns="0" bIns="0" anchor="t">
            <a:spAutoFit/>
          </a:bodyPr>
          <a:lstStyle/>
          <a:p>
            <a:pPr algn="l"/>
            <a:r>
              <a:rPr sz="3200" b="1" i="0">
                <a:solidFill>
                  <a:srgbClr val="1A1A1A"/>
                </a:solidFill>
                <a:latin typeface="Georgia"/>
              </a:rPr>
              <a:t>Price Tracks Cost, but Satisfaction Doesn't</a:t>
            </a:r>
          </a:p>
        </p:txBody>
      </p:sp>
      <p:sp>
        <p:nvSpPr>
          <p:cNvPr id="3" name="TextBox 2"/>
          <p:cNvSpPr txBox="1"/>
          <p:nvPr/>
        </p:nvSpPr>
        <p:spPr>
          <a:xfrm>
            <a:off x="548640" y="1097280"/>
            <a:ext cx="10972800" cy="457200"/>
          </a:xfrm>
          <a:prstGeom prst="rect">
            <a:avLst/>
          </a:prstGeom>
          <a:noFill/>
        </p:spPr>
        <p:txBody>
          <a:bodyPr wrap="square" lIns="0" tIns="0" rIns="0" bIns="0" anchor="t">
            <a:spAutoFit/>
          </a:bodyPr>
          <a:lstStyle/>
          <a:p>
            <a:pPr algn="l"/>
            <a:r>
              <a:rPr sz="1400" b="0" i="1">
                <a:solidFill>
                  <a:srgbClr val="6B6B6B"/>
                </a:solidFill>
                <a:latin typeface="Calibri"/>
              </a:rPr>
              <a:t>Average customer rating against the inferred unit cost for every brand-year.</a:t>
            </a:r>
          </a:p>
        </p:txBody>
      </p:sp>
      <p:sp>
        <p:nvSpPr>
          <p:cNvPr id="5" name="TextBox 4"/>
          <p:cNvSpPr txBox="1"/>
          <p:nvPr/>
        </p:nvSpPr>
        <p:spPr>
          <a:xfrm>
            <a:off x="8046720" y="1783080"/>
            <a:ext cx="3840480" cy="365760"/>
          </a:xfrm>
          <a:prstGeom prst="rect">
            <a:avLst/>
          </a:prstGeom>
          <a:noFill/>
        </p:spPr>
        <p:txBody>
          <a:bodyPr wrap="square" lIns="0" tIns="0" rIns="0" bIns="0" anchor="t">
            <a:spAutoFit/>
          </a:bodyPr>
          <a:lstStyle/>
          <a:p>
            <a:pPr algn="l"/>
            <a:r>
              <a:rPr sz="1800" b="1" i="0">
                <a:solidFill>
                  <a:srgbClr val="2F3C7E"/>
                </a:solidFill>
                <a:latin typeface="Georgia"/>
              </a:rPr>
              <a:t>How to read it</a:t>
            </a:r>
          </a:p>
        </p:txBody>
      </p:sp>
      <p:sp>
        <p:nvSpPr>
          <p:cNvPr id="6" name="TextBox 5"/>
          <p:cNvSpPr txBox="1"/>
          <p:nvPr/>
        </p:nvSpPr>
        <p:spPr>
          <a:xfrm>
            <a:off x="8046720" y="2212848"/>
            <a:ext cx="3840480" cy="4206240"/>
          </a:xfrm>
          <a:prstGeom prst="rect">
            <a:avLst/>
          </a:prstGeom>
          <a:noFill/>
        </p:spPr>
        <p:txBody>
          <a:bodyPr wrap="square" lIns="0" tIns="0" rIns="0" bIns="0" anchor="t">
            <a:spAutoFit/>
          </a:bodyPr>
          <a:lstStyle/>
          <a:p>
            <a:pPr algn="l">
              <a:spcAft>
                <a:spcPts val="800"/>
              </a:spcAft>
            </a:pPr>
            <a:r>
              <a:rPr sz="1200" b="0" i="1">
                <a:solidFill>
                  <a:srgbClr val="1A1A1A"/>
                </a:solidFill>
                <a:latin typeface="Calibri"/>
              </a:rPr>
              <a:t>Each dot is one brand-year. The scatter is essentially flat — paying more does not deliver a better-rated product in this market.</a:t>
            </a:r>
          </a:p>
          <a:p>
            <a:pPr algn="l">
              <a:spcAft>
                <a:spcPts val="600"/>
              </a:spcAft>
            </a:pPr>
            <a:r>
              <a:rPr sz="1200" b="0" i="0">
                <a:solidFill>
                  <a:srgbClr val="1A1A1A"/>
                </a:solidFill>
                <a:latin typeface="Calibri"/>
              </a:rPr>
              <a:t>Ninja sits in the upper middle of the chart at moderate cost ($80–135) and the highest ratings in the market (4.72–4.78).</a:t>
            </a:r>
          </a:p>
          <a:p>
            <a:pPr algn="l">
              <a:spcAft>
                <a:spcPts val="600"/>
              </a:spcAft>
            </a:pPr>
            <a:r>
              <a:rPr sz="1200" b="0" i="0">
                <a:solidFill>
                  <a:srgbClr val="1A1A1A"/>
                </a:solidFill>
                <a:latin typeface="Calibri"/>
              </a:rPr>
              <a:t>Cosori, Ultrean, and chefman cluster on the left side at low cost with above-average ratings — the value-and-quality combination.</a:t>
            </a:r>
          </a:p>
          <a:p>
            <a:pPr algn="l">
              <a:spcAft>
                <a:spcPts val="600"/>
              </a:spcAft>
            </a:pPr>
            <a:r>
              <a:rPr sz="1200" b="0" i="0">
                <a:solidFill>
                  <a:srgbClr val="1A1A1A"/>
                </a:solidFill>
                <a:latin typeface="Calibri"/>
              </a:rPr>
              <a:t>Cuisinart and Oster anchor the right side at the highest unit costs ($160–200) but their ratings (4.37–4.48) are below the market median.</a:t>
            </a:r>
          </a:p>
          <a:p>
            <a:pPr algn="l">
              <a:spcAft>
                <a:spcPts val="800"/>
              </a:spcAft>
            </a:pPr>
            <a:r>
              <a:rPr sz="1200" b="0" i="0">
                <a:solidFill>
                  <a:srgbClr val="1A1A1A"/>
                </a:solidFill>
                <a:latin typeface="Calibri"/>
              </a:rPr>
              <a:t>Dash sits at the bottom-left — the cheapest products in the market, with ratings near the median.</a:t>
            </a:r>
          </a:p>
          <a:p>
            <a:pPr algn="l"/>
            <a:r>
              <a:rPr sz="1100" b="0" i="1">
                <a:solidFill>
                  <a:srgbClr val="6B6B6B"/>
                </a:solidFill>
                <a:latin typeface="Calibri"/>
              </a:rPr>
              <a:t>Strategic implication: customer satisfaction is uncorrelated with how much it costs to make the product. Brands competing on premium positioning are paying more to produce something customers don't reward.</a:t>
            </a:r>
          </a:p>
        </p:txBody>
      </p:sp>
      <p:pic>
        <p:nvPicPr>
          <p:cNvPr id="9" name="Picture 8">
            <a:extLst>
              <a:ext uri="{FF2B5EF4-FFF2-40B4-BE49-F238E27FC236}">
                <a16:creationId xmlns:a16="http://schemas.microsoft.com/office/drawing/2014/main" id="{E242FB41-8336-0240-BA61-8B03F0AB0EFA}"/>
              </a:ext>
            </a:extLst>
          </p:cNvPr>
          <p:cNvPicPr>
            <a:picLocks noChangeAspect="1"/>
          </p:cNvPicPr>
          <p:nvPr/>
        </p:nvPicPr>
        <p:blipFill>
          <a:blip r:embed="rId2"/>
          <a:stretch>
            <a:fillRect/>
          </a:stretch>
        </p:blipFill>
        <p:spPr>
          <a:xfrm>
            <a:off x="157206" y="1490225"/>
            <a:ext cx="7772400" cy="4555593"/>
          </a:xfrm>
          <a:prstGeom prst="rect">
            <a:avLst/>
          </a:prstGeom>
        </p:spPr>
      </p:pic>
    </p:spTree>
    <p:extLst>
      <p:ext uri="{BB962C8B-B14F-4D97-AF65-F5344CB8AC3E}">
        <p14:creationId xmlns:p14="http://schemas.microsoft.com/office/powerpoint/2010/main" val="2787335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1A1A1A"/>
                </a:solidFill>
                <a:latin typeface="Georgia" pitchFamily="34" charset="0"/>
                <a:ea typeface="Georgia" pitchFamily="34" charset="-122"/>
                <a:cs typeface="Georgia" pitchFamily="34" charset="-120"/>
              </a:rPr>
              <a:t>Inferred Unit Costs &amp; Markups</a:t>
            </a:r>
            <a:endParaRPr lang="en-US" sz="3200" dirty="0"/>
          </a:p>
        </p:txBody>
      </p:sp>
      <p:sp>
        <p:nvSpPr>
          <p:cNvPr id="3" name="Text 1"/>
          <p:cNvSpPr/>
          <p:nvPr/>
        </p:nvSpPr>
        <p:spPr>
          <a:xfrm>
            <a:off x="548640" y="1097280"/>
            <a:ext cx="109728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Backing out costs from the firm's first-order pricing condition, brand-year by brand-year.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3218688"/>
        </p:xfrm>
        <a:graphic>
          <a:graphicData uri="http://schemas.openxmlformats.org/drawingml/2006/table">
            <a:tbl>
              <a:tblPr/>
              <a:tblGrid>
                <a:gridCol w="21945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Brand</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Avg price</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Avg share</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Unit cost</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Markup</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Profit index</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Ninja</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$145.34</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$112.49</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$32.85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6.31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Instant pot</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$104.46</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$71.90</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$32.56</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6.01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Gowise Usa</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$87.45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$56.30</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$31.15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b="1" dirty="0">
                          <a:solidFill>
                            <a:srgbClr val="990011"/>
                          </a:solidFill>
                          <a:latin typeface="Calibri" pitchFamily="34" charset="0"/>
                          <a:ea typeface="Calibri" pitchFamily="34" charset="-122"/>
                          <a:cs typeface="Calibri" pitchFamily="34" charset="-120"/>
                        </a:rPr>
                        <a:t>4.61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Dash</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$57.48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$27.94</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$29.54</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Chefman</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$90.94</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$61.57</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$29.37</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Ultrean</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$78.11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9.2%</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$48.79</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$29.33</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2.78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Cuisinart</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$223.95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$194.90</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$29.05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7"/>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Cosori</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$114.27</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$86.28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$27.98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8"/>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Nuwave</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$137.02</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$109.05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$27.97</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1.42</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09"/>
                  </a:ext>
                </a:extLst>
              </a:tr>
              <a:tr h="292608">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Oster</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$189.03</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$161.81</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$27.23</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anchor="ctr">
                    <a:lnL w="6350" cap="flat" cmpd="sng" algn="ctr">
                      <a:solidFill>
                        <a:srgbClr val="E2DDDC"/>
                      </a:solidFill>
                      <a:prstDash val="solid"/>
                      <a:round/>
                      <a:headEnd type="none" w="med" len="med"/>
                      <a:tailEnd type="none" w="med" len="med"/>
                    </a:lnL>
                    <a:lnR w="6350" cap="flat" cmpd="sng" algn="ctr">
                      <a:solidFill>
                        <a:srgbClr val="E2DDDC"/>
                      </a:solidFill>
                      <a:prstDash val="solid"/>
                      <a:round/>
                      <a:headEnd type="none" w="med" len="med"/>
                      <a:tailEnd type="none" w="med" len="med"/>
                    </a:lnR>
                    <a:lnT w="6350" cap="flat" cmpd="sng" algn="ctr">
                      <a:solidFill>
                        <a:srgbClr val="E2DDDC"/>
                      </a:solidFill>
                      <a:prstDash val="solid"/>
                      <a:round/>
                      <a:headEnd type="none" w="med" len="med"/>
                      <a:tailEnd type="none" w="med" len="med"/>
                    </a:lnT>
                    <a:lnB w="6350" cap="flat" cmpd="sng" algn="ctr">
                      <a:solidFill>
                        <a:srgbClr val="E2DDDC"/>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p:nvPr/>
        </p:nvSpPr>
        <p:spPr>
          <a:xfrm>
            <a:off x="548640" y="5285232"/>
            <a:ext cx="10972800" cy="292608"/>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Reading the table</a:t>
            </a:r>
            <a:endParaRPr lang="en-US" sz="1300" dirty="0"/>
          </a:p>
        </p:txBody>
      </p:sp>
      <p:sp>
        <p:nvSpPr>
          <p:cNvPr id="6" name="Text 3"/>
          <p:cNvSpPr/>
          <p:nvPr/>
        </p:nvSpPr>
        <p:spPr>
          <a:xfrm>
            <a:off x="548640" y="5605272"/>
            <a:ext cx="11064240" cy="77724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Markups are tightly compressed in the $27–$33 band by construction — with one price slope across the whole market, the implied markup depends only on each brand's share, so brands with similar shares get similar markups. This is why the profit ranking is driven almost entirely by share rather than by markup. Cuisinart and Oster carry by far the highest implied unit costs ($195 and $162) because their prices are so high; Dash, with the lowest unit cost ($28), sits at the value end. Profit index = share × markup, so Ninja and Instant Pot — both with strong shares and markups near $33 — pull away from the rest of the field. Cuisinart's combination of a $194 unit cost and only 8.6% share gives it a profit index of 2.50, well below several brands selling at less than half its price.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C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1A1A1A"/>
                </a:solidFill>
                <a:latin typeface="Georgia" pitchFamily="34" charset="0"/>
                <a:ea typeface="Georgia" pitchFamily="34" charset="-122"/>
                <a:cs typeface="Georgia" pitchFamily="34" charset="-120"/>
              </a:rPr>
              <a:t>Who Captures the Most Value</a:t>
            </a:r>
            <a:endParaRPr lang="en-US" sz="3200" dirty="0"/>
          </a:p>
        </p:txBody>
      </p:sp>
      <p:sp>
        <p:nvSpPr>
          <p:cNvPr id="3" name="Text 1"/>
          <p:cNvSpPr/>
          <p:nvPr/>
        </p:nvSpPr>
        <p:spPr>
          <a:xfrm>
            <a:off x="548640" y="1097280"/>
            <a:ext cx="10972800" cy="4572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Brands ranked by share-weighted profit. Ninja and Instant Pot are pulling away.</a:t>
            </a:r>
            <a:endParaRPr lang="en-US" sz="1400" dirty="0"/>
          </a:p>
        </p:txBody>
      </p:sp>
      <p:graphicFrame>
        <p:nvGraphicFramePr>
          <p:cNvPr id="4" name="Chart 0"/>
          <p:cNvGraphicFramePr/>
          <p:nvPr/>
        </p:nvGraphicFramePr>
        <p:xfrm>
          <a:off x="548640" y="1783080"/>
          <a:ext cx="7315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577840"/>
            <a:ext cx="7315200" cy="320040"/>
          </a:xfrm>
          <a:prstGeom prst="rect">
            <a:avLst/>
          </a:prstGeom>
          <a:noFill/>
          <a:ln/>
        </p:spPr>
        <p:txBody>
          <a:bodyPr wrap="square" lIns="0" tIns="0" rIns="0" bIns="0" rtlCol="0" anchor="ctr"/>
          <a:lstStyle/>
          <a:p>
            <a:pPr marL="0" indent="0">
              <a:buNone/>
            </a:pPr>
            <a:r>
              <a:rPr lang="en-US" sz="1200" b="1" dirty="0">
                <a:solidFill>
                  <a:srgbClr val="2F3C7E"/>
                </a:solidFill>
                <a:latin typeface="Calibri" pitchFamily="34" charset="0"/>
                <a:ea typeface="Calibri" pitchFamily="34" charset="-122"/>
                <a:cs typeface="Calibri" pitchFamily="34" charset="-120"/>
              </a:rPr>
              <a:t>Where the value sits</a:t>
            </a:r>
            <a:endParaRPr lang="en-US" sz="1200" dirty="0"/>
          </a:p>
        </p:txBody>
      </p:sp>
      <p:sp>
        <p:nvSpPr>
          <p:cNvPr id="6" name="Text 3"/>
          <p:cNvSpPr/>
          <p:nvPr/>
        </p:nvSpPr>
        <p:spPr>
          <a:xfrm>
            <a:off x="548640" y="5897880"/>
            <a:ext cx="7315200" cy="59436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Ninja (6.31) and Instant Pot (6.01) are pulling away from the field — together they capture more share-weighted profit than the bottom seven brands combined. GoWise USA's 4.61 is largely a 2019 artifact; by 2023 its profit index is much lower. Cuisinart's premium positioning leaves it generating less share-weighted profit than Dash, which sells at one-quarter of Cuisinart's price.</a:t>
            </a:r>
            <a:endParaRPr lang="en-US" sz="1000" dirty="0"/>
          </a:p>
        </p:txBody>
      </p:sp>
      <p:sp>
        <p:nvSpPr>
          <p:cNvPr id="7" name="Text 4"/>
          <p:cNvSpPr/>
          <p:nvPr/>
        </p:nvSpPr>
        <p:spPr>
          <a:xfrm>
            <a:off x="8138160" y="1828800"/>
            <a:ext cx="3566160" cy="365760"/>
          </a:xfrm>
          <a:prstGeom prst="rect">
            <a:avLst/>
          </a:prstGeom>
          <a:noFill/>
          <a:ln/>
        </p:spPr>
        <p:txBody>
          <a:bodyPr wrap="square" lIns="0" tIns="0" rIns="0" bIns="0" rtlCol="0" anchor="ctr"/>
          <a:lstStyle/>
          <a:p>
            <a:pPr marL="0" indent="0">
              <a:buNone/>
            </a:pPr>
            <a:r>
              <a:rPr lang="en-US" sz="1600" b="1" dirty="0">
                <a:solidFill>
                  <a:srgbClr val="2F3C7E"/>
                </a:solidFill>
                <a:latin typeface="Georgia" pitchFamily="34" charset="0"/>
                <a:ea typeface="Georgia" pitchFamily="34" charset="-122"/>
                <a:cs typeface="Georgia" pitchFamily="34" charset="-120"/>
              </a:rPr>
              <a:t>Leaders</a:t>
            </a:r>
            <a:endParaRPr lang="en-US" sz="1600" dirty="0"/>
          </a:p>
        </p:txBody>
      </p:sp>
      <p:sp>
        <p:nvSpPr>
          <p:cNvPr id="8" name="Text 5"/>
          <p:cNvSpPr/>
          <p:nvPr/>
        </p:nvSpPr>
        <p:spPr>
          <a:xfrm>
            <a:off x="8138160" y="2240280"/>
            <a:ext cx="3566160" cy="1371600"/>
          </a:xfrm>
          <a:prstGeom prst="rect">
            <a:avLst/>
          </a:prstGeom>
          <a:noFill/>
          <a:ln/>
        </p:spPr>
        <p:txBody>
          <a:bodyPr wrap="square" lIns="0" tIns="0" rIns="0" bIns="0" rtlCol="0" anchor="ctr"/>
          <a:lstStyle/>
          <a:p>
            <a:pPr marL="0" indent="0">
              <a:spcAft>
                <a:spcPts val="600"/>
              </a:spcAft>
              <a:buNone/>
            </a:pPr>
            <a:r>
              <a:rPr lang="en-US" sz="1300" b="1" dirty="0">
                <a:solidFill>
                  <a:srgbClr val="990011"/>
                </a:solidFill>
                <a:latin typeface="Calibri" pitchFamily="34" charset="0"/>
                <a:ea typeface="Calibri" pitchFamily="34" charset="-122"/>
                <a:cs typeface="Calibri" pitchFamily="34" charset="-120"/>
              </a:rPr>
              <a:t>Ninja  </a:t>
            </a:r>
            <a:r>
              <a:rPr lang="en-US" sz="1300" b="1" dirty="0">
                <a:solidFill>
                  <a:srgbClr val="1A1A1A"/>
                </a:solidFill>
                <a:latin typeface="Georgia" pitchFamily="34" charset="0"/>
                <a:ea typeface="Georgia" pitchFamily="34" charset="-122"/>
                <a:cs typeface="Georgia" pitchFamily="34" charset="-120"/>
              </a:rPr>
              <a:t>6.31</a:t>
            </a:r>
            <a:endParaRPr lang="en-US" sz="1300" dirty="0"/>
          </a:p>
          <a:p>
            <a:pPr marL="0" indent="0">
              <a:spcAft>
                <a:spcPts val="600"/>
              </a:spcAft>
              <a:buNone/>
            </a:pPr>
            <a:r>
              <a:rPr lang="en-US" sz="1300" b="1" dirty="0">
                <a:solidFill>
                  <a:srgbClr val="990011"/>
                </a:solidFill>
                <a:latin typeface="Calibri" pitchFamily="34" charset="0"/>
                <a:ea typeface="Calibri" pitchFamily="34" charset="-122"/>
                <a:cs typeface="Calibri" pitchFamily="34" charset="-120"/>
              </a:rPr>
              <a:t>Instant Pot  </a:t>
            </a:r>
            <a:r>
              <a:rPr lang="en-US" sz="1300" b="1" dirty="0">
                <a:solidFill>
                  <a:srgbClr val="1A1A1A"/>
                </a:solidFill>
                <a:latin typeface="Georgia" pitchFamily="34" charset="0"/>
                <a:ea typeface="Georgia" pitchFamily="34" charset="-122"/>
                <a:cs typeface="Georgia" pitchFamily="34" charset="-120"/>
              </a:rPr>
              <a:t>6.01</a:t>
            </a:r>
            <a:endParaRPr lang="en-US" sz="1300" dirty="0"/>
          </a:p>
          <a:p>
            <a:pPr marL="0" indent="0">
              <a:spcAft>
                <a:spcPts val="600"/>
              </a:spcAft>
              <a:buNone/>
            </a:pPr>
            <a:r>
              <a:rPr lang="en-US" sz="1300" b="1" dirty="0">
                <a:solidFill>
                  <a:srgbClr val="990011"/>
                </a:solidFill>
                <a:latin typeface="Calibri" pitchFamily="34" charset="0"/>
                <a:ea typeface="Calibri" pitchFamily="34" charset="-122"/>
                <a:cs typeface="Calibri" pitchFamily="34" charset="-120"/>
              </a:rPr>
              <a:t>GoWise USA  </a:t>
            </a:r>
            <a:r>
              <a:rPr lang="en-US" sz="1300" b="1" dirty="0">
                <a:solidFill>
                  <a:srgbClr val="1A1A1A"/>
                </a:solidFill>
                <a:latin typeface="Georgia" pitchFamily="34" charset="0"/>
                <a:ea typeface="Georgia" pitchFamily="34" charset="-122"/>
                <a:cs typeface="Georgia" pitchFamily="34" charset="-120"/>
              </a:rPr>
              <a:t>4.61</a:t>
            </a:r>
            <a:endParaRPr lang="en-US" sz="1300" dirty="0"/>
          </a:p>
        </p:txBody>
      </p:sp>
      <p:sp>
        <p:nvSpPr>
          <p:cNvPr id="9" name="Text 6"/>
          <p:cNvSpPr/>
          <p:nvPr/>
        </p:nvSpPr>
        <p:spPr>
          <a:xfrm>
            <a:off x="8138160" y="3840480"/>
            <a:ext cx="3566160" cy="365760"/>
          </a:xfrm>
          <a:prstGeom prst="rect">
            <a:avLst/>
          </a:prstGeom>
          <a:noFill/>
          <a:ln/>
        </p:spPr>
        <p:txBody>
          <a:bodyPr wrap="square" lIns="0" tIns="0" rIns="0" bIns="0" rtlCol="0" anchor="ctr"/>
          <a:lstStyle/>
          <a:p>
            <a:pPr marL="0" indent="0">
              <a:buNone/>
            </a:pPr>
            <a:r>
              <a:rPr lang="en-US" sz="1600" b="1" dirty="0">
                <a:solidFill>
                  <a:srgbClr val="2F3C7E"/>
                </a:solidFill>
                <a:latin typeface="Georgia" pitchFamily="34" charset="0"/>
                <a:ea typeface="Georgia" pitchFamily="34" charset="-122"/>
                <a:cs typeface="Georgia" pitchFamily="34" charset="-120"/>
              </a:rPr>
              <a:t>Lagging</a:t>
            </a:r>
            <a:endParaRPr lang="en-US" sz="1600" dirty="0"/>
          </a:p>
        </p:txBody>
      </p:sp>
      <p:sp>
        <p:nvSpPr>
          <p:cNvPr id="10" name="Text 7"/>
          <p:cNvSpPr/>
          <p:nvPr/>
        </p:nvSpPr>
        <p:spPr>
          <a:xfrm>
            <a:off x="8138160" y="4251960"/>
            <a:ext cx="3566160" cy="1371600"/>
          </a:xfrm>
          <a:prstGeom prst="rect">
            <a:avLst/>
          </a:prstGeom>
          <a:noFill/>
          <a:ln/>
        </p:spPr>
        <p:txBody>
          <a:bodyPr wrap="square" lIns="0" tIns="0" rIns="0" bIns="0" rtlCol="0" anchor="ctr"/>
          <a:lstStyle/>
          <a:p>
            <a:pPr marL="0" indent="0">
              <a:spcAft>
                <a:spcPts val="600"/>
              </a:spcAft>
              <a:buNone/>
            </a:pPr>
            <a:r>
              <a:rPr lang="en-US" sz="1300" b="1" dirty="0">
                <a:solidFill>
                  <a:srgbClr val="6B6B6B"/>
                </a:solidFill>
                <a:latin typeface="Calibri" pitchFamily="34" charset="0"/>
                <a:ea typeface="Calibri" pitchFamily="34" charset="-122"/>
                <a:cs typeface="Calibri" pitchFamily="34" charset="-120"/>
              </a:rPr>
              <a:t>Oster  </a:t>
            </a:r>
            <a:r>
              <a:rPr lang="en-US" sz="1300" b="1" dirty="0">
                <a:solidFill>
                  <a:srgbClr val="1A1A1A"/>
                </a:solidFill>
                <a:latin typeface="Georgia" pitchFamily="34" charset="0"/>
                <a:ea typeface="Georgia" pitchFamily="34" charset="-122"/>
                <a:cs typeface="Georgia" pitchFamily="34" charset="-120"/>
              </a:rPr>
              <a:t>0.68</a:t>
            </a:r>
            <a:endParaRPr lang="en-US" sz="1300" dirty="0"/>
          </a:p>
          <a:p>
            <a:pPr marL="0" indent="0">
              <a:spcAft>
                <a:spcPts val="600"/>
              </a:spcAft>
              <a:buNone/>
            </a:pPr>
            <a:r>
              <a:rPr lang="en-US" sz="1300" b="1" dirty="0">
                <a:solidFill>
                  <a:srgbClr val="6B6B6B"/>
                </a:solidFill>
                <a:latin typeface="Calibri" pitchFamily="34" charset="0"/>
                <a:ea typeface="Calibri" pitchFamily="34" charset="-122"/>
                <a:cs typeface="Calibri" pitchFamily="34" charset="-120"/>
              </a:rPr>
              <a:t>Nuwave  </a:t>
            </a:r>
            <a:r>
              <a:rPr lang="en-US" sz="1300" b="1" dirty="0">
                <a:solidFill>
                  <a:srgbClr val="1A1A1A"/>
                </a:solidFill>
                <a:latin typeface="Georgia" pitchFamily="34" charset="0"/>
                <a:ea typeface="Georgia" pitchFamily="34" charset="-122"/>
                <a:cs typeface="Georgia" pitchFamily="34" charset="-120"/>
              </a:rPr>
              <a:t>1.42</a:t>
            </a:r>
            <a:endParaRPr lang="en-US" sz="1300" dirty="0"/>
          </a:p>
          <a:p>
            <a:pPr marL="0" indent="0">
              <a:spcAft>
                <a:spcPts val="600"/>
              </a:spcAft>
              <a:buNone/>
            </a:pPr>
            <a:r>
              <a:rPr lang="en-US" sz="1300" b="1" dirty="0">
                <a:solidFill>
                  <a:srgbClr val="6B6B6B"/>
                </a:solidFill>
                <a:latin typeface="Calibri" pitchFamily="34" charset="0"/>
                <a:ea typeface="Calibri" pitchFamily="34" charset="-122"/>
                <a:cs typeface="Calibri" pitchFamily="34" charset="-120"/>
              </a:rPr>
              <a:t>Cosori  </a:t>
            </a:r>
            <a:r>
              <a:rPr lang="en-US" sz="1300" b="1" dirty="0">
                <a:solidFill>
                  <a:srgbClr val="1A1A1A"/>
                </a:solidFill>
                <a:latin typeface="Georgia" pitchFamily="34" charset="0"/>
                <a:ea typeface="Georgia" pitchFamily="34" charset="-122"/>
                <a:cs typeface="Georgia" pitchFamily="34" charset="-120"/>
              </a:rPr>
              <a:t>1.44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5A0009"/>
        </a:solidFill>
        <a:effectLst/>
      </p:bgPr>
    </p:bg>
    <p:spTree>
      <p:nvGrpSpPr>
        <p:cNvPr id="1" name=""/>
        <p:cNvGrpSpPr/>
        <p:nvPr/>
      </p:nvGrpSpPr>
      <p:grpSpPr>
        <a:xfrm>
          <a:off x="0" y="0"/>
          <a:ext cx="0" cy="0"/>
          <a:chOff x="0" y="0"/>
          <a:chExt cx="0" cy="0"/>
        </a:xfrm>
      </p:grpSpPr>
      <p:sp>
        <p:nvSpPr>
          <p:cNvPr id="2" name="Text 0"/>
          <p:cNvSpPr/>
          <p:nvPr/>
        </p:nvSpPr>
        <p:spPr>
          <a:xfrm>
            <a:off x="731520" y="640080"/>
            <a:ext cx="10972800" cy="365760"/>
          </a:xfrm>
          <a:prstGeom prst="rect">
            <a:avLst/>
          </a:prstGeom>
          <a:noFill/>
          <a:ln/>
        </p:spPr>
        <p:txBody>
          <a:bodyPr wrap="square" lIns="0" tIns="0" rIns="0" bIns="0" rtlCol="0" anchor="ctr"/>
          <a:lstStyle/>
          <a:p>
            <a:pPr marL="0" indent="0">
              <a:buNone/>
            </a:pPr>
            <a:r>
              <a:rPr lang="en-US" sz="1300" b="1" kern="0" spc="600" dirty="0">
                <a:solidFill>
                  <a:srgbClr val="F5C9CC"/>
                </a:solidFill>
                <a:latin typeface="Calibri" pitchFamily="34" charset="0"/>
                <a:ea typeface="Calibri" pitchFamily="34" charset="-122"/>
                <a:cs typeface="Calibri" pitchFamily="34" charset="-120"/>
              </a:rPr>
              <a:t>STRATEGIC TAKEAWAY</a:t>
            </a:r>
            <a:endParaRPr lang="en-US" sz="1300" dirty="0"/>
          </a:p>
        </p:txBody>
      </p:sp>
      <p:sp>
        <p:nvSpPr>
          <p:cNvPr id="3" name="Text 1"/>
          <p:cNvSpPr/>
          <p:nvPr/>
        </p:nvSpPr>
        <p:spPr>
          <a:xfrm>
            <a:off x="731520" y="1143000"/>
            <a:ext cx="109728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The middle of the market is winning.</a:t>
            </a:r>
            <a:endParaRPr lang="en-US" sz="4400" dirty="0"/>
          </a:p>
        </p:txBody>
      </p:sp>
      <p:sp>
        <p:nvSpPr>
          <p:cNvPr id="4" name="Shape 2"/>
          <p:cNvSpPr/>
          <p:nvPr/>
        </p:nvSpPr>
        <p:spPr>
          <a:xfrm>
            <a:off x="457200" y="2834640"/>
            <a:ext cx="548640" cy="45720"/>
          </a:xfrm>
          <a:prstGeom prst="rect">
            <a:avLst/>
          </a:prstGeom>
          <a:solidFill>
            <a:srgbClr val="FFFFFF"/>
          </a:solidFill>
          <a:ln w="12700">
            <a:solidFill>
              <a:srgbClr val="FFFFFF"/>
            </a:solidFill>
            <a:prstDash val="solid"/>
          </a:ln>
        </p:spPr>
        <p:txBody>
          <a:bodyPr/>
          <a:lstStyle/>
          <a:p>
            <a:endParaRPr lang="en-TH"/>
          </a:p>
        </p:txBody>
      </p:sp>
      <p:sp>
        <p:nvSpPr>
          <p:cNvPr id="5" name="Text 3"/>
          <p:cNvSpPr/>
          <p:nvPr/>
        </p:nvSpPr>
        <p:spPr>
          <a:xfrm>
            <a:off x="457200" y="2999232"/>
            <a:ext cx="3566160" cy="457200"/>
          </a:xfrm>
          <a:prstGeom prst="rect">
            <a:avLst/>
          </a:prstGeom>
          <a:noFill/>
          <a:ln/>
        </p:spPr>
        <p:txBody>
          <a:bodyPr wrap="square" lIns="0" tIns="0" rIns="0" bIns="0" rtlCol="0" anchor="t"/>
          <a:lstStyle/>
          <a:p>
            <a:pPr marL="0" indent="0">
              <a:buNone/>
            </a:pPr>
            <a:r>
              <a:rPr lang="en-US" sz="2200" b="1" dirty="0">
                <a:solidFill>
                  <a:srgbClr val="FFFFFF"/>
                </a:solidFill>
                <a:latin typeface="Georgia" pitchFamily="34" charset="0"/>
                <a:ea typeface="Georgia" pitchFamily="34" charset="-122"/>
                <a:cs typeface="Georgia" pitchFamily="34" charset="-120"/>
              </a:rPr>
              <a:t>Premium ≠ profit</a:t>
            </a:r>
            <a:endParaRPr lang="en-US" sz="2200" dirty="0"/>
          </a:p>
        </p:txBody>
      </p:sp>
      <p:sp>
        <p:nvSpPr>
          <p:cNvPr id="6" name="Text 4"/>
          <p:cNvSpPr/>
          <p:nvPr/>
        </p:nvSpPr>
        <p:spPr>
          <a:xfrm>
            <a:off x="457200" y="3547872"/>
            <a:ext cx="3566160" cy="3017520"/>
          </a:xfrm>
          <a:prstGeom prst="rect">
            <a:avLst/>
          </a:prstGeom>
          <a:noFill/>
          <a:ln/>
        </p:spPr>
        <p:txBody>
          <a:bodyPr wrap="square" lIns="0" tIns="0" rIns="0" bIns="0" rtlCol="0" anchor="t"/>
          <a:lstStyle/>
          <a:p>
            <a:pPr marL="0" indent="0">
              <a:spcAft>
                <a:spcPts val="400"/>
              </a:spcAft>
              <a:buNone/>
            </a:pPr>
            <a:r>
              <a:rPr lang="en-US" sz="1300" dirty="0">
                <a:solidFill>
                  <a:srgbClr val="F5C9CC"/>
                </a:solidFill>
                <a:latin typeface="Calibri" pitchFamily="34" charset="0"/>
                <a:ea typeface="Calibri" pitchFamily="34" charset="-122"/>
                <a:cs typeface="Calibri" pitchFamily="34" charset="-120"/>
              </a:rPr>
              <a:t>Cuisinart and Oster carry the highest unit costs in the market ($195 and $162) and ask consumers to pay $190–$224 for an air fryer. Yet their share-weighted profit indices (2.50 and 0.68) sit at the bottom of the ranking. Premium pricing alone does not buy share or profit in this category; in fact, the brands with the lowest customer ratings tend to sit in the highest price tier.</a:t>
            </a:r>
            <a:endParaRPr lang="en-US" sz="1300" dirty="0"/>
          </a:p>
        </p:txBody>
      </p:sp>
      <p:sp>
        <p:nvSpPr>
          <p:cNvPr id="7" name="Shape 5"/>
          <p:cNvSpPr/>
          <p:nvPr/>
        </p:nvSpPr>
        <p:spPr>
          <a:xfrm>
            <a:off x="4297680" y="2834640"/>
            <a:ext cx="548640" cy="45720"/>
          </a:xfrm>
          <a:prstGeom prst="rect">
            <a:avLst/>
          </a:prstGeom>
          <a:solidFill>
            <a:srgbClr val="FFFFFF"/>
          </a:solidFill>
          <a:ln w="12700">
            <a:solidFill>
              <a:srgbClr val="FFFFFF"/>
            </a:solidFill>
            <a:prstDash val="solid"/>
          </a:ln>
        </p:spPr>
        <p:txBody>
          <a:bodyPr/>
          <a:lstStyle/>
          <a:p>
            <a:endParaRPr lang="en-TH"/>
          </a:p>
        </p:txBody>
      </p:sp>
      <p:sp>
        <p:nvSpPr>
          <p:cNvPr id="8" name="Text 6"/>
          <p:cNvSpPr/>
          <p:nvPr/>
        </p:nvSpPr>
        <p:spPr>
          <a:xfrm>
            <a:off x="4297680" y="2999232"/>
            <a:ext cx="3566160" cy="457200"/>
          </a:xfrm>
          <a:prstGeom prst="rect">
            <a:avLst/>
          </a:prstGeom>
          <a:noFill/>
          <a:ln/>
        </p:spPr>
        <p:txBody>
          <a:bodyPr wrap="square" lIns="0" tIns="0" rIns="0" bIns="0" rtlCol="0" anchor="t"/>
          <a:lstStyle/>
          <a:p>
            <a:pPr marL="0" indent="0">
              <a:buNone/>
            </a:pPr>
            <a:r>
              <a:rPr lang="en-US" sz="2200" b="1" dirty="0">
                <a:solidFill>
                  <a:srgbClr val="FFFFFF"/>
                </a:solidFill>
                <a:latin typeface="Georgia" pitchFamily="34" charset="0"/>
                <a:ea typeface="Georgia" pitchFamily="34" charset="-122"/>
                <a:cs typeface="Georgia" pitchFamily="34" charset="-120"/>
              </a:rPr>
              <a:t>Mid-price wins</a:t>
            </a:r>
            <a:endParaRPr lang="en-US" sz="2200" dirty="0"/>
          </a:p>
        </p:txBody>
      </p:sp>
      <p:sp>
        <p:nvSpPr>
          <p:cNvPr id="9" name="Text 7"/>
          <p:cNvSpPr/>
          <p:nvPr/>
        </p:nvSpPr>
        <p:spPr>
          <a:xfrm>
            <a:off x="4297680" y="3547872"/>
            <a:ext cx="3566160" cy="3017520"/>
          </a:xfrm>
          <a:prstGeom prst="rect">
            <a:avLst/>
          </a:prstGeom>
          <a:noFill/>
          <a:ln/>
        </p:spPr>
        <p:txBody>
          <a:bodyPr wrap="square" lIns="0" tIns="0" rIns="0" bIns="0" rtlCol="0" anchor="t"/>
          <a:lstStyle/>
          <a:p>
            <a:pPr marL="0" indent="0">
              <a:spcAft>
                <a:spcPts val="400"/>
              </a:spcAft>
              <a:buNone/>
            </a:pPr>
            <a:r>
              <a:rPr lang="en-US" sz="1300" dirty="0">
                <a:solidFill>
                  <a:srgbClr val="F5C9CC"/>
                </a:solidFill>
                <a:latin typeface="Calibri" pitchFamily="34" charset="0"/>
                <a:ea typeface="Calibri" pitchFamily="34" charset="-122"/>
                <a:cs typeface="Calibri" pitchFamily="34" charset="-120"/>
              </a:rPr>
              <a:t>Ninja's combination of a ~$145 average price, the highest customer rating in the market (4.74), and a 19% share dominates the profitability ranking. The category rewards brands that pair recognizable design and reliable performance with an accessible price point, not brands that chase the high end. Instant Pot follows the same playbook at a slightly lower price.</a:t>
            </a:r>
            <a:endParaRPr lang="en-US" sz="1300" dirty="0"/>
          </a:p>
        </p:txBody>
      </p:sp>
      <p:sp>
        <p:nvSpPr>
          <p:cNvPr id="10" name="Shape 8"/>
          <p:cNvSpPr/>
          <p:nvPr/>
        </p:nvSpPr>
        <p:spPr>
          <a:xfrm>
            <a:off x="8138160" y="2834640"/>
            <a:ext cx="548640" cy="45720"/>
          </a:xfrm>
          <a:prstGeom prst="rect">
            <a:avLst/>
          </a:prstGeom>
          <a:solidFill>
            <a:srgbClr val="FFFFFF"/>
          </a:solidFill>
          <a:ln w="12700">
            <a:solidFill>
              <a:srgbClr val="FFFFFF"/>
            </a:solidFill>
            <a:prstDash val="solid"/>
          </a:ln>
        </p:spPr>
        <p:txBody>
          <a:bodyPr/>
          <a:lstStyle/>
          <a:p>
            <a:endParaRPr lang="en-TH"/>
          </a:p>
        </p:txBody>
      </p:sp>
      <p:sp>
        <p:nvSpPr>
          <p:cNvPr id="11" name="Text 9"/>
          <p:cNvSpPr/>
          <p:nvPr/>
        </p:nvSpPr>
        <p:spPr>
          <a:xfrm>
            <a:off x="8138160" y="2999232"/>
            <a:ext cx="3566160" cy="457200"/>
          </a:xfrm>
          <a:prstGeom prst="rect">
            <a:avLst/>
          </a:prstGeom>
          <a:noFill/>
          <a:ln/>
        </p:spPr>
        <p:txBody>
          <a:bodyPr wrap="square" lIns="0" tIns="0" rIns="0" bIns="0" rtlCol="0" anchor="t"/>
          <a:lstStyle/>
          <a:p>
            <a:pPr marL="0" indent="0">
              <a:buNone/>
            </a:pPr>
            <a:r>
              <a:rPr lang="en-US" sz="2200" b="1" dirty="0">
                <a:solidFill>
                  <a:srgbClr val="FFFFFF"/>
                </a:solidFill>
                <a:latin typeface="Georgia" pitchFamily="34" charset="0"/>
                <a:ea typeface="Georgia" pitchFamily="34" charset="-122"/>
                <a:cs typeface="Georgia" pitchFamily="34" charset="-120"/>
              </a:rPr>
              <a:t>Shares are not stable</a:t>
            </a:r>
            <a:endParaRPr lang="en-US" sz="2200" dirty="0"/>
          </a:p>
        </p:txBody>
      </p:sp>
      <p:sp>
        <p:nvSpPr>
          <p:cNvPr id="12" name="Text 10"/>
          <p:cNvSpPr/>
          <p:nvPr/>
        </p:nvSpPr>
        <p:spPr>
          <a:xfrm>
            <a:off x="8138160" y="3547872"/>
            <a:ext cx="3566160" cy="3017520"/>
          </a:xfrm>
          <a:prstGeom prst="rect">
            <a:avLst/>
          </a:prstGeom>
          <a:noFill/>
          <a:ln/>
        </p:spPr>
        <p:txBody>
          <a:bodyPr wrap="square" lIns="0" tIns="0" rIns="0" bIns="0" rtlCol="0" anchor="t"/>
          <a:lstStyle/>
          <a:p>
            <a:pPr marL="0" indent="0">
              <a:spcAft>
                <a:spcPts val="400"/>
              </a:spcAft>
              <a:buNone/>
            </a:pPr>
            <a:r>
              <a:rPr lang="en-US" sz="1300" dirty="0">
                <a:solidFill>
                  <a:srgbClr val="F5C9CC"/>
                </a:solidFill>
                <a:latin typeface="Calibri" pitchFamily="34" charset="0"/>
                <a:ea typeface="Calibri" pitchFamily="34" charset="-122"/>
                <a:cs typeface="Calibri" pitchFamily="34" charset="-120"/>
              </a:rPr>
              <a:t>GoWise USA went from category leader at 29% share in 2019 to also-ran at 5% in 2023. Instant Pot did the reverse, going from 3% to 23% in the same window. Cosori went from essentially zero to 13%. No incumbent should treat its position as locked in, and the data suggest entry at the mid-price tier with strong product fundamentals can rapidly capture share.</a:t>
            </a:r>
            <a:endParaRPr lang="en-US" sz="1300" dirty="0"/>
          </a:p>
        </p:txBody>
      </p:sp>
      <p:sp>
        <p:nvSpPr>
          <p:cNvPr id="13" name="Shape 11"/>
          <p:cNvSpPr/>
          <p:nvPr/>
        </p:nvSpPr>
        <p:spPr>
          <a:xfrm>
            <a:off x="731520" y="5852160"/>
            <a:ext cx="548640" cy="36576"/>
          </a:xfrm>
          <a:prstGeom prst="rect">
            <a:avLst/>
          </a:prstGeom>
          <a:solidFill>
            <a:srgbClr val="FFFFFF"/>
          </a:solidFill>
          <a:ln w="12700">
            <a:solidFill>
              <a:srgbClr val="FFFFFF"/>
            </a:solidFill>
            <a:prstDash val="solid"/>
          </a:ln>
        </p:spPr>
        <p:txBody>
          <a:bodyPr/>
          <a:lstStyle/>
          <a:p>
            <a:endParaRPr lang="en-TH"/>
          </a:p>
        </p:txBody>
      </p:sp>
      <p:sp>
        <p:nvSpPr>
          <p:cNvPr id="14" name="Text 12"/>
          <p:cNvSpPr/>
          <p:nvPr/>
        </p:nvSpPr>
        <p:spPr>
          <a:xfrm>
            <a:off x="731520" y="5989320"/>
            <a:ext cx="10972800" cy="640080"/>
          </a:xfrm>
          <a:prstGeom prst="rect">
            <a:avLst/>
          </a:prstGeom>
          <a:noFill/>
          <a:ln/>
        </p:spPr>
        <p:txBody>
          <a:bodyPr wrap="square" lIns="0" tIns="0" rIns="0" bIns="0" rtlCol="0" anchor="ctr"/>
          <a:lstStyle/>
          <a:p>
            <a:pPr marL="0" indent="0">
              <a:buNone/>
            </a:pPr>
            <a:r>
              <a:rPr lang="en-US" sz="1300" i="1" dirty="0">
                <a:solidFill>
                  <a:srgbClr val="F5C9CC"/>
                </a:solidFill>
                <a:latin typeface="Calibri" pitchFamily="34" charset="0"/>
                <a:ea typeface="Calibri" pitchFamily="34" charset="-122"/>
                <a:cs typeface="Calibri" pitchFamily="34" charset="-120"/>
              </a:rPr>
              <a:t>Recommended next step:  scenario analysis on Cuisinart re-pricing toward the $140-160 band, given its high brand-fixed-effect coefficient.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1649</Words>
  <Application>Microsoft Macintosh PowerPoint</Application>
  <PresentationFormat>Widescreen</PresentationFormat>
  <Paragraphs>153</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Fryer Market Analysis 2019-2023</dc:title>
  <dc:subject>PptxGenJS Presentation</dc:subject>
  <dc:creator>Demand Estimation Lab</dc:creator>
  <cp:lastModifiedBy>Anish Jagota</cp:lastModifiedBy>
  <cp:revision>4</cp:revision>
  <dcterms:created xsi:type="dcterms:W3CDTF">2026-04-26T20:38:19Z</dcterms:created>
  <dcterms:modified xsi:type="dcterms:W3CDTF">2026-04-26T21:28:00Z</dcterms:modified>
</cp:coreProperties>
</file>